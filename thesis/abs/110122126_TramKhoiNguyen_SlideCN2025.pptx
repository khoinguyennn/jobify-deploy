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2" r:id="rId30"/>
    <p:sldId id="285" r:id="rId31"/>
  </p:sldIdLst>
  <p:sldSz cx="18288000" cy="10287000"/>
  <p:notesSz cx="6858000" cy="9144000"/>
  <p:defaultTex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309C"/>
    <a:srgbClr val="8D51FF"/>
    <a:srgbClr val="5F29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smtClean="0"/>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205B1ED-6A84-4E90-98EC-96F3150E8680}"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2475157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05B1ED-6A84-4E90-98EC-96F3150E8680}"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3317448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smtClean="0"/>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05B1ED-6A84-4E90-98EC-96F3150E8680}"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3363182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205B1ED-6A84-4E90-98EC-96F3150E8680}"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3969189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205B1ED-6A84-4E90-98EC-96F3150E8680}" type="datetimeFigureOut">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192195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205B1ED-6A84-4E90-98EC-96F3150E8680}"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4278756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05B1ED-6A84-4E90-98EC-96F3150E8680}" type="datetimeFigureOut">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3512422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Edit Master text styles</a:t>
            </a:r>
          </a:p>
        </p:txBody>
      </p:sp>
      <p:sp>
        <p:nvSpPr>
          <p:cNvPr id="5" name="Date Placeholder 4"/>
          <p:cNvSpPr>
            <a:spLocks noGrp="1"/>
          </p:cNvSpPr>
          <p:nvPr>
            <p:ph type="dt" sz="half" idx="10"/>
          </p:nvPr>
        </p:nvSpPr>
        <p:spPr/>
        <p:txBody>
          <a:bodyPr/>
          <a:lstStyle/>
          <a:p>
            <a:fld id="{D205B1ED-6A84-4E90-98EC-96F3150E8680}"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762221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smtClean="0"/>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Edit Master text styles</a:t>
            </a:r>
          </a:p>
        </p:txBody>
      </p:sp>
      <p:sp>
        <p:nvSpPr>
          <p:cNvPr id="5" name="Date Placeholder 4"/>
          <p:cNvSpPr>
            <a:spLocks noGrp="1"/>
          </p:cNvSpPr>
          <p:nvPr>
            <p:ph type="dt" sz="half" idx="10"/>
          </p:nvPr>
        </p:nvSpPr>
        <p:spPr/>
        <p:txBody>
          <a:bodyPr/>
          <a:lstStyle/>
          <a:p>
            <a:fld id="{D205B1ED-6A84-4E90-98EC-96F3150E8680}"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1481924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05B1ED-6A84-4E90-98EC-96F3150E8680}"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337154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05B1ED-6A84-4E90-98EC-96F3150E8680}"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F9D768-36F2-445A-8C92-26408B78BC14}" type="slidenum">
              <a:rPr lang="en-US" smtClean="0"/>
              <a:t>‹#›</a:t>
            </a:fld>
            <a:endParaRPr lang="en-US"/>
          </a:p>
        </p:txBody>
      </p:sp>
    </p:spTree>
    <p:extLst>
      <p:ext uri="{BB962C8B-B14F-4D97-AF65-F5344CB8AC3E}">
        <p14:creationId xmlns:p14="http://schemas.microsoft.com/office/powerpoint/2010/main" val="2007820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D205B1ED-6A84-4E90-98EC-96F3150E8680}" type="datetimeFigureOut">
              <a:rPr lang="en-US" smtClean="0"/>
              <a:t>12/28/2025</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31F9D768-36F2-445A-8C92-26408B78BC14}" type="slidenum">
              <a:rPr lang="en-US" smtClean="0"/>
              <a:t>‹#›</a:t>
            </a:fld>
            <a:endParaRPr lang="en-US"/>
          </a:p>
        </p:txBody>
      </p:sp>
    </p:spTree>
    <p:extLst>
      <p:ext uri="{BB962C8B-B14F-4D97-AF65-F5344CB8AC3E}">
        <p14:creationId xmlns:p14="http://schemas.microsoft.com/office/powerpoint/2010/main" val="888145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2.png"/><Relationship Id="rId7" Type="http://schemas.openxmlformats.org/officeDocument/2006/relationships/image" Target="../media/image9.png"/><Relationship Id="rId12" Type="http://schemas.openxmlformats.org/officeDocument/2006/relationships/image" Target="../media/image19.svg"/><Relationship Id="rId17" Type="http://schemas.openxmlformats.org/officeDocument/2006/relationships/image" Target="../media/image14.png"/><Relationship Id="rId2" Type="http://schemas.openxmlformats.org/officeDocument/2006/relationships/image" Target="../media/image7.png"/><Relationship Id="rId16"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1.png"/><Relationship Id="rId5" Type="http://schemas.openxmlformats.org/officeDocument/2006/relationships/image" Target="../media/image8.png"/><Relationship Id="rId15" Type="http://schemas.openxmlformats.org/officeDocument/2006/relationships/image" Target="../media/image13.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0.png"/><Relationship Id="rId14" Type="http://schemas.openxmlformats.org/officeDocument/2006/relationships/image" Target="../media/image21.sv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17.png"/><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58.svg"/></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60.svg"/></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2"/>
          <p:cNvSpPr txBox="1"/>
          <p:nvPr/>
        </p:nvSpPr>
        <p:spPr>
          <a:xfrm>
            <a:off x="1141242" y="7447587"/>
            <a:ext cx="4678149" cy="1795363"/>
          </a:xfrm>
          <a:prstGeom prst="rect">
            <a:avLst/>
          </a:prstGeom>
        </p:spPr>
        <p:txBody>
          <a:bodyPr lIns="0" tIns="0" rIns="0" bIns="0" rtlCol="0" anchor="t">
            <a:spAutoFit/>
          </a:bodyPr>
          <a:lstStyle/>
          <a:p>
            <a:pPr algn="l">
              <a:lnSpc>
                <a:spcPts val="3499"/>
              </a:lnSpc>
            </a:pPr>
            <a:r>
              <a:rPr lang="en-US" sz="2499" b="1" i="1">
                <a:solidFill>
                  <a:srgbClr val="000000"/>
                </a:solidFill>
                <a:latin typeface="Inter Bold Italics"/>
                <a:ea typeface="Inter Bold Italics"/>
                <a:cs typeface="Inter Bold Italics"/>
                <a:sym typeface="Inter Bold Italics"/>
              </a:rPr>
              <a:t>Sinh viên thực hiện:</a:t>
            </a:r>
          </a:p>
          <a:p>
            <a:pPr marL="0" lvl="0" indent="0" algn="l">
              <a:lnSpc>
                <a:spcPts val="3499"/>
              </a:lnSpc>
              <a:spcBef>
                <a:spcPct val="0"/>
              </a:spcBef>
            </a:pPr>
            <a:r>
              <a:rPr lang="en-US" sz="2499" u="none" strike="noStrike">
                <a:solidFill>
                  <a:srgbClr val="000000"/>
                </a:solidFill>
                <a:latin typeface="Inter"/>
                <a:ea typeface="Inter"/>
                <a:cs typeface="Inter"/>
                <a:sym typeface="Inter"/>
              </a:rPr>
              <a:t>Họ tên: </a:t>
            </a:r>
            <a:r>
              <a:rPr lang="en-US" sz="2499" u="none" strike="noStrike" smtClean="0">
                <a:solidFill>
                  <a:srgbClr val="000000"/>
                </a:solidFill>
                <a:latin typeface="Inter"/>
                <a:ea typeface="Inter"/>
                <a:cs typeface="Inter"/>
                <a:sym typeface="Inter"/>
              </a:rPr>
              <a:t>Trầm Khôi Nguyên</a:t>
            </a:r>
            <a:endParaRPr lang="en-US" sz="2499" u="none" strike="noStrike">
              <a:solidFill>
                <a:srgbClr val="000000"/>
              </a:solidFill>
              <a:latin typeface="Inter"/>
              <a:ea typeface="Inter"/>
              <a:cs typeface="Inter"/>
              <a:sym typeface="Inter"/>
            </a:endParaRPr>
          </a:p>
          <a:p>
            <a:pPr marL="0" lvl="0" indent="0" algn="l">
              <a:lnSpc>
                <a:spcPts val="3499"/>
              </a:lnSpc>
              <a:spcBef>
                <a:spcPct val="0"/>
              </a:spcBef>
            </a:pPr>
            <a:r>
              <a:rPr lang="en-US" sz="2499" u="none" strike="noStrike">
                <a:solidFill>
                  <a:srgbClr val="000000"/>
                </a:solidFill>
                <a:latin typeface="Inter"/>
                <a:ea typeface="Inter"/>
                <a:cs typeface="Inter"/>
                <a:sym typeface="Inter"/>
              </a:rPr>
              <a:t>MSSV: </a:t>
            </a:r>
            <a:r>
              <a:rPr lang="en-US" sz="2499" u="none" strike="noStrike" smtClean="0">
                <a:solidFill>
                  <a:srgbClr val="000000"/>
                </a:solidFill>
                <a:latin typeface="Inter"/>
                <a:ea typeface="Inter"/>
                <a:cs typeface="Inter"/>
                <a:sym typeface="Inter"/>
              </a:rPr>
              <a:t>110122126</a:t>
            </a:r>
            <a:endParaRPr lang="en-US" sz="2499" u="none" strike="noStrike">
              <a:solidFill>
                <a:srgbClr val="000000"/>
              </a:solidFill>
              <a:latin typeface="Inter"/>
              <a:ea typeface="Inter"/>
              <a:cs typeface="Inter"/>
              <a:sym typeface="Inter"/>
            </a:endParaRPr>
          </a:p>
          <a:p>
            <a:pPr marL="0" lvl="0" indent="0" algn="l">
              <a:lnSpc>
                <a:spcPts val="3499"/>
              </a:lnSpc>
              <a:spcBef>
                <a:spcPct val="0"/>
              </a:spcBef>
            </a:pPr>
            <a:r>
              <a:rPr lang="en-US" sz="2499" u="none" strike="noStrike">
                <a:solidFill>
                  <a:srgbClr val="000000"/>
                </a:solidFill>
                <a:latin typeface="Inter"/>
                <a:ea typeface="Inter"/>
                <a:cs typeface="Inter"/>
                <a:sym typeface="Inter"/>
              </a:rPr>
              <a:t>Lớp: </a:t>
            </a:r>
            <a:r>
              <a:rPr lang="en-US" sz="2499" u="none" strike="noStrike" smtClean="0">
                <a:solidFill>
                  <a:srgbClr val="000000"/>
                </a:solidFill>
                <a:latin typeface="Inter"/>
                <a:ea typeface="Inter"/>
                <a:cs typeface="Inter"/>
                <a:sym typeface="Inter"/>
              </a:rPr>
              <a:t>DA22TTB</a:t>
            </a:r>
            <a:endParaRPr lang="en-US" sz="2499" u="none" strike="noStrike">
              <a:solidFill>
                <a:srgbClr val="000000"/>
              </a:solidFill>
              <a:latin typeface="Inter"/>
              <a:ea typeface="Inter"/>
              <a:cs typeface="Inter"/>
              <a:sym typeface="Inter"/>
            </a:endParaRPr>
          </a:p>
        </p:txBody>
      </p:sp>
      <p:sp>
        <p:nvSpPr>
          <p:cNvPr id="14" name="TextBox 6"/>
          <p:cNvSpPr txBox="1"/>
          <p:nvPr/>
        </p:nvSpPr>
        <p:spPr>
          <a:xfrm>
            <a:off x="1226820" y="4179161"/>
            <a:ext cx="9090660" cy="1384995"/>
          </a:xfrm>
          <a:prstGeom prst="rect">
            <a:avLst/>
          </a:prstGeom>
        </p:spPr>
        <p:txBody>
          <a:bodyPr wrap="square" lIns="0" tIns="0" rIns="0" bIns="0" rtlCol="0" anchor="t">
            <a:spAutoFit/>
          </a:bodyPr>
          <a:lstStyle/>
          <a:p>
            <a:pPr marL="0" lvl="0" indent="0" algn="l">
              <a:lnSpc>
                <a:spcPts val="5399"/>
              </a:lnSpc>
              <a:spcBef>
                <a:spcPct val="0"/>
              </a:spcBef>
            </a:pPr>
            <a:r>
              <a:rPr lang="en-US" sz="4499" b="1" u="none" strike="noStrike" spc="124" smtClean="0">
                <a:solidFill>
                  <a:srgbClr val="6E309C"/>
                </a:solidFill>
                <a:latin typeface="Arimo Bold" panose="020B0604020202020204" charset="0"/>
                <a:ea typeface="Arimo Bold" panose="020B0604020202020204" charset="0"/>
                <a:cs typeface="Arimo Bold" panose="020B0604020202020204" charset="0"/>
                <a:sym typeface="Arimo Bold"/>
              </a:rPr>
              <a:t>XÂY DỰNG WEBSITE TÌM KIẾM VÀ ỨNG TUYỂN VIỆC LÀM</a:t>
            </a:r>
            <a:endParaRPr lang="en-US" sz="4499" b="1" u="none" strike="noStrike" spc="124">
              <a:solidFill>
                <a:srgbClr val="6E309C"/>
              </a:solidFill>
              <a:latin typeface="Arimo Bold" panose="020B0604020202020204" charset="0"/>
              <a:ea typeface="Arimo Bold" panose="020B0604020202020204" charset="0"/>
              <a:cs typeface="Arimo Bold" panose="020B0604020202020204" charset="0"/>
              <a:sym typeface="Arimo Bold"/>
            </a:endParaRPr>
          </a:p>
        </p:txBody>
      </p:sp>
      <p:sp>
        <p:nvSpPr>
          <p:cNvPr id="15" name="TextBox 5"/>
          <p:cNvSpPr txBox="1"/>
          <p:nvPr/>
        </p:nvSpPr>
        <p:spPr>
          <a:xfrm>
            <a:off x="12588519" y="8345268"/>
            <a:ext cx="4492770" cy="897682"/>
          </a:xfrm>
          <a:prstGeom prst="rect">
            <a:avLst/>
          </a:prstGeom>
        </p:spPr>
        <p:txBody>
          <a:bodyPr wrap="square" lIns="0" tIns="0" rIns="0" bIns="0" rtlCol="0" anchor="t">
            <a:spAutoFit/>
          </a:bodyPr>
          <a:lstStyle/>
          <a:p>
            <a:pPr algn="l">
              <a:lnSpc>
                <a:spcPts val="3499"/>
              </a:lnSpc>
            </a:pPr>
            <a:r>
              <a:rPr lang="en-US" sz="2499" b="1" i="1">
                <a:solidFill>
                  <a:srgbClr val="000000"/>
                </a:solidFill>
                <a:latin typeface="Inter Bold Italics"/>
                <a:ea typeface="Inter Bold Italics"/>
                <a:cs typeface="Inter Bold Italics"/>
                <a:sym typeface="Inter Bold Italics"/>
              </a:rPr>
              <a:t>Giảng viên hướng dẫn:</a:t>
            </a:r>
          </a:p>
          <a:p>
            <a:pPr marL="0" lvl="0" indent="0" algn="l">
              <a:lnSpc>
                <a:spcPts val="3499"/>
              </a:lnSpc>
              <a:spcBef>
                <a:spcPct val="0"/>
              </a:spcBef>
            </a:pPr>
            <a:r>
              <a:rPr lang="en-US" sz="2499" smtClean="0">
                <a:solidFill>
                  <a:srgbClr val="000000"/>
                </a:solidFill>
                <a:latin typeface="Inter"/>
                <a:ea typeface="Inter"/>
                <a:cs typeface="Inter"/>
                <a:sym typeface="Inter"/>
              </a:rPr>
              <a:t>ThS. </a:t>
            </a:r>
            <a:r>
              <a:rPr lang="en-US" sz="2499">
                <a:solidFill>
                  <a:srgbClr val="000000"/>
                </a:solidFill>
                <a:latin typeface="Inter"/>
                <a:ea typeface="Inter"/>
                <a:cs typeface="Inter"/>
                <a:sym typeface="Inter"/>
              </a:rPr>
              <a:t>Nguyễn </a:t>
            </a:r>
            <a:r>
              <a:rPr lang="en-US" sz="2499" smtClean="0">
                <a:solidFill>
                  <a:srgbClr val="000000"/>
                </a:solidFill>
                <a:latin typeface="Inter"/>
                <a:ea typeface="Inter"/>
                <a:cs typeface="Inter"/>
                <a:sym typeface="Inter"/>
              </a:rPr>
              <a:t>Hoàng Duy Thiện</a:t>
            </a:r>
            <a:endParaRPr lang="en-US" sz="2499">
              <a:solidFill>
                <a:srgbClr val="000000"/>
              </a:solidFill>
              <a:latin typeface="Inter"/>
              <a:ea typeface="Inter"/>
              <a:cs typeface="Inter"/>
              <a:sym typeface="Inter"/>
            </a:endParaRPr>
          </a:p>
        </p:txBody>
      </p:sp>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260" y="801518"/>
            <a:ext cx="6314497" cy="1071413"/>
          </a:xfrm>
          <a:prstGeom prst="rect">
            <a:avLst/>
          </a:prstGeom>
        </p:spPr>
      </p:pic>
      <p:sp>
        <p:nvSpPr>
          <p:cNvPr id="19" name="AutoShape 13"/>
          <p:cNvSpPr/>
          <p:nvPr/>
        </p:nvSpPr>
        <p:spPr>
          <a:xfrm>
            <a:off x="1226836" y="3884419"/>
            <a:ext cx="5081797" cy="0"/>
          </a:xfrm>
          <a:prstGeom prst="line">
            <a:avLst/>
          </a:prstGeom>
          <a:ln w="19050" cap="rnd">
            <a:solidFill>
              <a:srgbClr val="6E309C"/>
            </a:solidFill>
            <a:prstDash val="solid"/>
            <a:headEnd type="none" w="sm" len="sm"/>
            <a:tailEnd type="none" w="sm" len="sm"/>
          </a:ln>
        </p:spPr>
      </p:sp>
      <p:sp>
        <p:nvSpPr>
          <p:cNvPr id="20" name="TextBox 4"/>
          <p:cNvSpPr txBox="1"/>
          <p:nvPr/>
        </p:nvSpPr>
        <p:spPr>
          <a:xfrm>
            <a:off x="11506201" y="1142180"/>
            <a:ext cx="5575088" cy="412549"/>
          </a:xfrm>
          <a:prstGeom prst="rect">
            <a:avLst/>
          </a:prstGeom>
        </p:spPr>
        <p:txBody>
          <a:bodyPr wrap="square" lIns="0" tIns="0" rIns="0" bIns="0" rtlCol="0" anchor="t">
            <a:spAutoFit/>
          </a:bodyPr>
          <a:lstStyle/>
          <a:p>
            <a:pPr marL="0" lvl="0" indent="0" algn="ctr">
              <a:lnSpc>
                <a:spcPts val="3536"/>
              </a:lnSpc>
            </a:pPr>
            <a:r>
              <a:rPr lang="en-US" sz="2600" b="1">
                <a:solidFill>
                  <a:srgbClr val="6E309C"/>
                </a:solidFill>
                <a:latin typeface="Inter Bold"/>
                <a:ea typeface="Inter Bold"/>
                <a:cs typeface="Inter Bold"/>
                <a:sym typeface="Inter Bold"/>
              </a:rPr>
              <a:t>BÁO </a:t>
            </a:r>
            <a:r>
              <a:rPr lang="en-US" sz="2600" b="1" smtClean="0">
                <a:solidFill>
                  <a:srgbClr val="6E309C"/>
                </a:solidFill>
                <a:latin typeface="Inter Bold"/>
                <a:ea typeface="Inter Bold"/>
                <a:cs typeface="Inter Bold"/>
                <a:sym typeface="Inter Bold"/>
              </a:rPr>
              <a:t>CÁO ĐỒ ÁN CHUYÊN NGÀNH</a:t>
            </a:r>
            <a:endParaRPr lang="en-US" sz="2600" b="1">
              <a:solidFill>
                <a:srgbClr val="6E309C"/>
              </a:solidFill>
              <a:latin typeface="Inter Bold"/>
              <a:ea typeface="Inter Bold"/>
              <a:cs typeface="Inter Bold"/>
              <a:sym typeface="Inter Bold"/>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9657" y="2668969"/>
            <a:ext cx="7432766" cy="4492667"/>
          </a:xfrm>
          <a:prstGeom prst="rect">
            <a:avLst/>
          </a:prstGeom>
        </p:spPr>
      </p:pic>
    </p:spTree>
    <p:extLst>
      <p:ext uri="{BB962C8B-B14F-4D97-AF65-F5344CB8AC3E}">
        <p14:creationId xmlns:p14="http://schemas.microsoft.com/office/powerpoint/2010/main" val="373864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Nội dung báo cáo</a:t>
            </a: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a:solidFill>
                  <a:srgbClr val="6E309C"/>
                </a:solidFill>
                <a:latin typeface="Arimo Bold"/>
                <a:ea typeface="Arimo Bold"/>
                <a:cs typeface="Arimo Bold"/>
                <a:sym typeface="Arimo Bold"/>
              </a:rPr>
              <a:t>Tóm tắt nội dung</a:t>
            </a: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a:solidFill>
                  <a:srgbClr val="6E309C"/>
                </a:solidFill>
                <a:latin typeface="Arimo Bold"/>
                <a:ea typeface="Arimo Bold"/>
                <a:cs typeface="Arimo Bold"/>
                <a:sym typeface="Arimo Bold"/>
              </a:rPr>
              <a:t>1</a:t>
            </a:r>
          </a:p>
        </p:txBody>
      </p:sp>
      <p:grpSp>
        <p:nvGrpSpPr>
          <p:cNvPr id="8" name="Group 4"/>
          <p:cNvGrpSpPr/>
          <p:nvPr/>
        </p:nvGrpSpPr>
        <p:grpSpPr>
          <a:xfrm>
            <a:off x="1603685" y="2919177"/>
            <a:ext cx="5652579" cy="769956"/>
            <a:chOff x="0" y="0"/>
            <a:chExt cx="7536771" cy="1026609"/>
          </a:xfrm>
        </p:grpSpPr>
        <p:grpSp>
          <p:nvGrpSpPr>
            <p:cNvPr id="9" name="Group 5"/>
            <p:cNvGrpSpPr/>
            <p:nvPr/>
          </p:nvGrpSpPr>
          <p:grpSpPr>
            <a:xfrm>
              <a:off x="0" y="0"/>
              <a:ext cx="1026609" cy="1026609"/>
              <a:chOff x="0" y="0"/>
              <a:chExt cx="812800" cy="812800"/>
            </a:xfrm>
          </p:grpSpPr>
          <p:sp>
            <p:nvSpPr>
              <p:cNvPr id="11"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51FF">
                  <a:alpha val="70000"/>
                </a:srgbClr>
              </a:solidFill>
            </p:spPr>
          </p:sp>
          <p:sp>
            <p:nvSpPr>
              <p:cNvPr id="12" name="TextBox 7"/>
              <p:cNvSpPr txBox="1"/>
              <p:nvPr/>
            </p:nvSpPr>
            <p:spPr>
              <a:xfrm>
                <a:off x="76200" y="28575"/>
                <a:ext cx="660400" cy="708025"/>
              </a:xfrm>
              <a:prstGeom prst="rect">
                <a:avLst/>
              </a:prstGeom>
            </p:spPr>
            <p:txBody>
              <a:bodyPr lIns="50800" tIns="50800" rIns="50800" bIns="50800" rtlCol="0" anchor="ctr"/>
              <a:lstStyle/>
              <a:p>
                <a:pPr algn="ctr">
                  <a:lnSpc>
                    <a:spcPts val="3499"/>
                  </a:lnSpc>
                </a:pPr>
                <a:r>
                  <a:rPr lang="en-US" sz="2499" b="1">
                    <a:solidFill>
                      <a:srgbClr val="FEFFFE">
                        <a:alpha val="69804"/>
                      </a:srgbClr>
                    </a:solidFill>
                    <a:latin typeface="Inter Bold"/>
                    <a:ea typeface="Inter Bold"/>
                    <a:cs typeface="Inter Bold"/>
                    <a:sym typeface="Inter Bold"/>
                  </a:rPr>
                  <a:t>01</a:t>
                </a:r>
              </a:p>
            </p:txBody>
          </p:sp>
        </p:grpSp>
        <p:sp>
          <p:nvSpPr>
            <p:cNvPr id="10" name="TextBox 8"/>
            <p:cNvSpPr txBox="1"/>
            <p:nvPr/>
          </p:nvSpPr>
          <p:spPr>
            <a:xfrm>
              <a:off x="1334294" y="113253"/>
              <a:ext cx="6202477" cy="733535"/>
            </a:xfrm>
            <a:prstGeom prst="rect">
              <a:avLst/>
            </a:prstGeom>
          </p:spPr>
          <p:txBody>
            <a:bodyPr lIns="0" tIns="0" rIns="0" bIns="0" rtlCol="0" anchor="t">
              <a:spAutoFit/>
            </a:bodyPr>
            <a:lstStyle/>
            <a:p>
              <a:pPr marL="0" lvl="0" indent="0" algn="l">
                <a:lnSpc>
                  <a:spcPts val="4559"/>
                </a:lnSpc>
                <a:spcBef>
                  <a:spcPct val="0"/>
                </a:spcBef>
              </a:pPr>
              <a:r>
                <a:rPr lang="en-US" sz="3799" b="1" spc="105">
                  <a:solidFill>
                    <a:srgbClr val="6E309C">
                      <a:alpha val="81961"/>
                    </a:srgbClr>
                  </a:solidFill>
                  <a:latin typeface="Arimo Bold"/>
                  <a:ea typeface="Arimo Bold"/>
                  <a:cs typeface="Arimo Bold"/>
                  <a:sym typeface="Arimo Bold"/>
                </a:rPr>
                <a:t>TỔNG QUAN</a:t>
              </a:r>
            </a:p>
          </p:txBody>
        </p:sp>
      </p:grpSp>
      <p:grpSp>
        <p:nvGrpSpPr>
          <p:cNvPr id="13" name="Group 9"/>
          <p:cNvGrpSpPr/>
          <p:nvPr/>
        </p:nvGrpSpPr>
        <p:grpSpPr>
          <a:xfrm>
            <a:off x="1603685" y="4590473"/>
            <a:ext cx="5652579" cy="769956"/>
            <a:chOff x="0" y="0"/>
            <a:chExt cx="7536771" cy="1026609"/>
          </a:xfrm>
        </p:grpSpPr>
        <p:grpSp>
          <p:nvGrpSpPr>
            <p:cNvPr id="14" name="Group 10"/>
            <p:cNvGrpSpPr/>
            <p:nvPr/>
          </p:nvGrpSpPr>
          <p:grpSpPr>
            <a:xfrm>
              <a:off x="0" y="0"/>
              <a:ext cx="1026609" cy="1026609"/>
              <a:chOff x="0" y="0"/>
              <a:chExt cx="812800" cy="812800"/>
            </a:xfrm>
          </p:grpSpPr>
          <p:sp>
            <p:nvSpPr>
              <p:cNvPr id="16"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51FF">
                  <a:alpha val="70000"/>
                </a:srgbClr>
              </a:solidFill>
            </p:spPr>
          </p:sp>
          <p:sp>
            <p:nvSpPr>
              <p:cNvPr id="17" name="TextBox 12"/>
              <p:cNvSpPr txBox="1"/>
              <p:nvPr/>
            </p:nvSpPr>
            <p:spPr>
              <a:xfrm>
                <a:off x="76200" y="28575"/>
                <a:ext cx="660400" cy="708025"/>
              </a:xfrm>
              <a:prstGeom prst="rect">
                <a:avLst/>
              </a:prstGeom>
            </p:spPr>
            <p:txBody>
              <a:bodyPr lIns="50800" tIns="50800" rIns="50800" bIns="50800" rtlCol="0" anchor="ctr"/>
              <a:lstStyle/>
              <a:p>
                <a:pPr algn="ctr">
                  <a:lnSpc>
                    <a:spcPts val="3499"/>
                  </a:lnSpc>
                </a:pPr>
                <a:r>
                  <a:rPr lang="en-US" sz="2499" b="1">
                    <a:solidFill>
                      <a:srgbClr val="FEFFFE">
                        <a:alpha val="69804"/>
                      </a:srgbClr>
                    </a:solidFill>
                    <a:latin typeface="Inter Bold"/>
                    <a:ea typeface="Inter Bold"/>
                    <a:cs typeface="Inter Bold"/>
                    <a:sym typeface="Inter Bold"/>
                  </a:rPr>
                  <a:t>02</a:t>
                </a:r>
              </a:p>
            </p:txBody>
          </p:sp>
        </p:grpSp>
        <p:sp>
          <p:nvSpPr>
            <p:cNvPr id="15" name="TextBox 13"/>
            <p:cNvSpPr txBox="1"/>
            <p:nvPr/>
          </p:nvSpPr>
          <p:spPr>
            <a:xfrm>
              <a:off x="1334294" y="113253"/>
              <a:ext cx="6202477" cy="733535"/>
            </a:xfrm>
            <a:prstGeom prst="rect">
              <a:avLst/>
            </a:prstGeom>
          </p:spPr>
          <p:txBody>
            <a:bodyPr lIns="0" tIns="0" rIns="0" bIns="0" rtlCol="0" anchor="t">
              <a:spAutoFit/>
            </a:bodyPr>
            <a:lstStyle/>
            <a:p>
              <a:pPr marL="0" lvl="0" indent="0" algn="l">
                <a:lnSpc>
                  <a:spcPts val="4559"/>
                </a:lnSpc>
                <a:spcBef>
                  <a:spcPct val="0"/>
                </a:spcBef>
              </a:pPr>
              <a:r>
                <a:rPr lang="en-US" sz="3799" b="1" spc="105">
                  <a:solidFill>
                    <a:srgbClr val="6E309C">
                      <a:alpha val="81961"/>
                    </a:srgbClr>
                  </a:solidFill>
                  <a:latin typeface="Arimo Bold"/>
                  <a:ea typeface="Arimo Bold"/>
                  <a:cs typeface="Arimo Bold"/>
                  <a:sym typeface="Arimo Bold"/>
                </a:rPr>
                <a:t>CƠ SỞ LÝ THUYẾT</a:t>
              </a:r>
            </a:p>
          </p:txBody>
        </p:sp>
      </p:grpSp>
      <p:grpSp>
        <p:nvGrpSpPr>
          <p:cNvPr id="18" name="Group 19"/>
          <p:cNvGrpSpPr/>
          <p:nvPr/>
        </p:nvGrpSpPr>
        <p:grpSpPr>
          <a:xfrm>
            <a:off x="1603685" y="6056539"/>
            <a:ext cx="6232756" cy="1179810"/>
            <a:chOff x="0" y="-19049"/>
            <a:chExt cx="8310342" cy="1573080"/>
          </a:xfrm>
        </p:grpSpPr>
        <p:grpSp>
          <p:nvGrpSpPr>
            <p:cNvPr id="19" name="Group 20"/>
            <p:cNvGrpSpPr/>
            <p:nvPr/>
          </p:nvGrpSpPr>
          <p:grpSpPr>
            <a:xfrm>
              <a:off x="0" y="248696"/>
              <a:ext cx="1026609" cy="102660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51FF">
                  <a:alpha val="70000"/>
                </a:srgbClr>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499"/>
                  </a:lnSpc>
                </a:pPr>
                <a:r>
                  <a:rPr lang="en-US" sz="2499" b="1">
                    <a:solidFill>
                      <a:srgbClr val="FEFFFE">
                        <a:alpha val="69804"/>
                      </a:srgbClr>
                    </a:solidFill>
                    <a:latin typeface="Inter Bold"/>
                    <a:ea typeface="Inter Bold"/>
                    <a:cs typeface="Inter Bold"/>
                    <a:sym typeface="Inter Bold"/>
                  </a:rPr>
                  <a:t>03</a:t>
                </a:r>
              </a:p>
            </p:txBody>
          </p:sp>
        </p:grpSp>
        <p:sp>
          <p:nvSpPr>
            <p:cNvPr id="20" name="TextBox 23"/>
            <p:cNvSpPr txBox="1"/>
            <p:nvPr/>
          </p:nvSpPr>
          <p:spPr>
            <a:xfrm>
              <a:off x="1455755" y="-19049"/>
              <a:ext cx="6854587" cy="1573080"/>
            </a:xfrm>
            <a:prstGeom prst="rect">
              <a:avLst/>
            </a:prstGeom>
          </p:spPr>
          <p:txBody>
            <a:bodyPr lIns="0" tIns="0" rIns="0" bIns="0" rtlCol="0" anchor="t">
              <a:spAutoFit/>
            </a:bodyPr>
            <a:lstStyle/>
            <a:p>
              <a:pPr algn="l">
                <a:lnSpc>
                  <a:spcPts val="4559"/>
                </a:lnSpc>
              </a:pPr>
              <a:r>
                <a:rPr lang="en-US" sz="3799" b="1" spc="102">
                  <a:solidFill>
                    <a:srgbClr val="6E309C">
                      <a:alpha val="81961"/>
                    </a:srgbClr>
                  </a:solidFill>
                  <a:latin typeface="Arimo Bold"/>
                  <a:ea typeface="Arimo Bold"/>
                  <a:cs typeface="Arimo Bold"/>
                  <a:sym typeface="Arimo Bold"/>
                </a:rPr>
                <a:t>HIỆN THỰC HOÁ</a:t>
              </a:r>
            </a:p>
            <a:p>
              <a:pPr marL="0" lvl="0" indent="0" algn="l">
                <a:lnSpc>
                  <a:spcPts val="4559"/>
                </a:lnSpc>
                <a:spcBef>
                  <a:spcPct val="0"/>
                </a:spcBef>
              </a:pPr>
              <a:r>
                <a:rPr lang="en-US" sz="3799" b="1" spc="105">
                  <a:solidFill>
                    <a:srgbClr val="6E309C">
                      <a:alpha val="81961"/>
                    </a:srgbClr>
                  </a:solidFill>
                  <a:latin typeface="Arimo Bold"/>
                  <a:ea typeface="Arimo Bold"/>
                  <a:cs typeface="Arimo Bold"/>
                  <a:sym typeface="Arimo Bold"/>
                </a:rPr>
                <a:t>NGHIÊN CỨU</a:t>
              </a:r>
            </a:p>
          </p:txBody>
        </p:sp>
      </p:grpSp>
      <p:grpSp>
        <p:nvGrpSpPr>
          <p:cNvPr id="23" name="Group 24"/>
          <p:cNvGrpSpPr/>
          <p:nvPr/>
        </p:nvGrpSpPr>
        <p:grpSpPr>
          <a:xfrm>
            <a:off x="8993522" y="2919177"/>
            <a:ext cx="7679053" cy="769957"/>
            <a:chOff x="0" y="248696"/>
            <a:chExt cx="10238737" cy="1026609"/>
          </a:xfrm>
        </p:grpSpPr>
        <p:grpSp>
          <p:nvGrpSpPr>
            <p:cNvPr id="24" name="Group 25"/>
            <p:cNvGrpSpPr/>
            <p:nvPr/>
          </p:nvGrpSpPr>
          <p:grpSpPr>
            <a:xfrm>
              <a:off x="0" y="248696"/>
              <a:ext cx="1026609" cy="1026609"/>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51FF">
                  <a:alpha val="70000"/>
                </a:srgbClr>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499"/>
                  </a:lnSpc>
                </a:pPr>
                <a:r>
                  <a:rPr lang="en-US" sz="2499" b="1">
                    <a:solidFill>
                      <a:srgbClr val="FEFFFE">
                        <a:alpha val="69804"/>
                      </a:srgbClr>
                    </a:solidFill>
                    <a:latin typeface="Inter Bold"/>
                    <a:ea typeface="Inter Bold"/>
                    <a:cs typeface="Inter Bold"/>
                    <a:sym typeface="Inter Bold"/>
                  </a:rPr>
                  <a:t>04</a:t>
                </a:r>
              </a:p>
            </p:txBody>
          </p:sp>
        </p:grpSp>
        <p:sp>
          <p:nvSpPr>
            <p:cNvPr id="25" name="TextBox 28"/>
            <p:cNvSpPr txBox="1"/>
            <p:nvPr/>
          </p:nvSpPr>
          <p:spPr>
            <a:xfrm>
              <a:off x="1346995" y="392387"/>
              <a:ext cx="8891742" cy="786540"/>
            </a:xfrm>
            <a:prstGeom prst="rect">
              <a:avLst/>
            </a:prstGeom>
          </p:spPr>
          <p:txBody>
            <a:bodyPr lIns="0" tIns="0" rIns="0" bIns="0" rtlCol="0" anchor="t">
              <a:spAutoFit/>
            </a:bodyPr>
            <a:lstStyle/>
            <a:p>
              <a:pPr algn="l">
                <a:lnSpc>
                  <a:spcPts val="4559"/>
                </a:lnSpc>
              </a:pPr>
              <a:r>
                <a:rPr lang="en-US" sz="3799" b="1" spc="105" smtClean="0">
                  <a:solidFill>
                    <a:srgbClr val="6E309C">
                      <a:alpha val="81961"/>
                    </a:srgbClr>
                  </a:solidFill>
                  <a:latin typeface="Arimo Bold"/>
                  <a:ea typeface="Arimo Bold"/>
                  <a:cs typeface="Arimo Bold"/>
                  <a:sym typeface="Arimo Bold"/>
                </a:rPr>
                <a:t>KẾT </a:t>
              </a:r>
              <a:r>
                <a:rPr lang="en-US" sz="3799" b="1" spc="105">
                  <a:solidFill>
                    <a:srgbClr val="6E309C">
                      <a:alpha val="81961"/>
                    </a:srgbClr>
                  </a:solidFill>
                  <a:latin typeface="Arimo Bold"/>
                  <a:ea typeface="Arimo Bold"/>
                  <a:cs typeface="Arimo Bold"/>
                  <a:sym typeface="Arimo Bold"/>
                </a:rPr>
                <a:t>QUẢ THỬ NGHIỆM</a:t>
              </a:r>
            </a:p>
          </p:txBody>
        </p:sp>
      </p:grpSp>
      <p:grpSp>
        <p:nvGrpSpPr>
          <p:cNvPr id="28" name="Group 29"/>
          <p:cNvGrpSpPr/>
          <p:nvPr/>
        </p:nvGrpSpPr>
        <p:grpSpPr>
          <a:xfrm>
            <a:off x="9003047" y="4389664"/>
            <a:ext cx="7087866" cy="1179810"/>
            <a:chOff x="0" y="-19049"/>
            <a:chExt cx="9450489" cy="1573080"/>
          </a:xfrm>
        </p:grpSpPr>
        <p:grpSp>
          <p:nvGrpSpPr>
            <p:cNvPr id="29" name="Group 30"/>
            <p:cNvGrpSpPr/>
            <p:nvPr/>
          </p:nvGrpSpPr>
          <p:grpSpPr>
            <a:xfrm>
              <a:off x="0" y="248696"/>
              <a:ext cx="1026609" cy="102660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51FF">
                  <a:alpha val="70000"/>
                </a:srgbClr>
              </a:solidFill>
            </p:spPr>
          </p:sp>
          <p:sp>
            <p:nvSpPr>
              <p:cNvPr id="32" name="TextBox 32"/>
              <p:cNvSpPr txBox="1"/>
              <p:nvPr/>
            </p:nvSpPr>
            <p:spPr>
              <a:xfrm>
                <a:off x="76200" y="28575"/>
                <a:ext cx="660400" cy="708025"/>
              </a:xfrm>
              <a:prstGeom prst="rect">
                <a:avLst/>
              </a:prstGeom>
            </p:spPr>
            <p:txBody>
              <a:bodyPr lIns="50800" tIns="50800" rIns="50800" bIns="50800" rtlCol="0" anchor="ctr"/>
              <a:lstStyle/>
              <a:p>
                <a:pPr algn="ctr">
                  <a:lnSpc>
                    <a:spcPts val="3499"/>
                  </a:lnSpc>
                </a:pPr>
                <a:r>
                  <a:rPr lang="en-US" sz="2499" b="1">
                    <a:solidFill>
                      <a:srgbClr val="FEFFFE">
                        <a:alpha val="69804"/>
                      </a:srgbClr>
                    </a:solidFill>
                    <a:latin typeface="Inter Bold"/>
                    <a:ea typeface="Inter Bold"/>
                    <a:cs typeface="Inter Bold"/>
                    <a:sym typeface="Inter Bold"/>
                  </a:rPr>
                  <a:t>05</a:t>
                </a:r>
              </a:p>
            </p:txBody>
          </p:sp>
        </p:grpSp>
        <p:sp>
          <p:nvSpPr>
            <p:cNvPr id="30" name="TextBox 33"/>
            <p:cNvSpPr txBox="1"/>
            <p:nvPr/>
          </p:nvSpPr>
          <p:spPr>
            <a:xfrm>
              <a:off x="1334295" y="-19049"/>
              <a:ext cx="8116194" cy="1573080"/>
            </a:xfrm>
            <a:prstGeom prst="rect">
              <a:avLst/>
            </a:prstGeom>
          </p:spPr>
          <p:txBody>
            <a:bodyPr lIns="0" tIns="0" rIns="0" bIns="0" rtlCol="0" anchor="t">
              <a:spAutoFit/>
            </a:bodyPr>
            <a:lstStyle/>
            <a:p>
              <a:pPr algn="l">
                <a:lnSpc>
                  <a:spcPts val="4559"/>
                </a:lnSpc>
              </a:pPr>
              <a:r>
                <a:rPr lang="en-US" sz="3799" b="1" spc="102">
                  <a:solidFill>
                    <a:srgbClr val="6E309C">
                      <a:alpha val="81961"/>
                    </a:srgbClr>
                  </a:solidFill>
                  <a:latin typeface="Arimo Bold"/>
                  <a:ea typeface="Arimo Bold"/>
                  <a:cs typeface="Arimo Bold"/>
                  <a:sym typeface="Arimo Bold"/>
                </a:rPr>
                <a:t>KẾT LUẬN </a:t>
              </a:r>
            </a:p>
            <a:p>
              <a:pPr marL="0" lvl="0" indent="0" algn="l">
                <a:lnSpc>
                  <a:spcPts val="4559"/>
                </a:lnSpc>
                <a:spcBef>
                  <a:spcPct val="0"/>
                </a:spcBef>
              </a:pPr>
              <a:r>
                <a:rPr lang="en-US" sz="3799" b="1" spc="105">
                  <a:solidFill>
                    <a:srgbClr val="6E309C">
                      <a:alpha val="81961"/>
                    </a:srgbClr>
                  </a:solidFill>
                  <a:latin typeface="Arimo Bold"/>
                  <a:ea typeface="Arimo Bold"/>
                  <a:cs typeface="Arimo Bold"/>
                  <a:sym typeface="Arimo Bold"/>
                </a:rPr>
                <a:t>VÀ HƯỚNG PHÁT TRIỂN</a:t>
              </a:r>
            </a:p>
          </p:txBody>
        </p:sp>
      </p:grpSp>
      <p:grpSp>
        <p:nvGrpSpPr>
          <p:cNvPr id="33" name="Group 34"/>
          <p:cNvGrpSpPr/>
          <p:nvPr/>
        </p:nvGrpSpPr>
        <p:grpSpPr>
          <a:xfrm>
            <a:off x="8993522" y="6257348"/>
            <a:ext cx="6818948" cy="769956"/>
            <a:chOff x="0" y="0"/>
            <a:chExt cx="9091931" cy="1026609"/>
          </a:xfrm>
        </p:grpSpPr>
        <p:grpSp>
          <p:nvGrpSpPr>
            <p:cNvPr id="34" name="Group 35"/>
            <p:cNvGrpSpPr/>
            <p:nvPr/>
          </p:nvGrpSpPr>
          <p:grpSpPr>
            <a:xfrm>
              <a:off x="0" y="0"/>
              <a:ext cx="1026609" cy="1026609"/>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51FF">
                  <a:alpha val="70000"/>
                </a:srgbClr>
              </a:solidFill>
            </p:spPr>
          </p:sp>
          <p:sp>
            <p:nvSpPr>
              <p:cNvPr id="37" name="TextBox 37"/>
              <p:cNvSpPr txBox="1"/>
              <p:nvPr/>
            </p:nvSpPr>
            <p:spPr>
              <a:xfrm>
                <a:off x="76200" y="28575"/>
                <a:ext cx="660400" cy="708025"/>
              </a:xfrm>
              <a:prstGeom prst="rect">
                <a:avLst/>
              </a:prstGeom>
            </p:spPr>
            <p:txBody>
              <a:bodyPr lIns="50800" tIns="50800" rIns="50800" bIns="50800" rtlCol="0" anchor="ctr"/>
              <a:lstStyle/>
              <a:p>
                <a:pPr algn="ctr">
                  <a:lnSpc>
                    <a:spcPts val="3499"/>
                  </a:lnSpc>
                </a:pPr>
                <a:r>
                  <a:rPr lang="en-US" sz="2499" b="1">
                    <a:solidFill>
                      <a:srgbClr val="FEFFFE">
                        <a:alpha val="69804"/>
                      </a:srgbClr>
                    </a:solidFill>
                    <a:latin typeface="Inter Bold"/>
                    <a:ea typeface="Inter Bold"/>
                    <a:cs typeface="Inter Bold"/>
                    <a:sym typeface="Inter Bold"/>
                  </a:rPr>
                  <a:t>06</a:t>
                </a:r>
              </a:p>
            </p:txBody>
          </p:sp>
        </p:grpSp>
        <p:sp>
          <p:nvSpPr>
            <p:cNvPr id="35" name="TextBox 38"/>
            <p:cNvSpPr txBox="1"/>
            <p:nvPr/>
          </p:nvSpPr>
          <p:spPr>
            <a:xfrm>
              <a:off x="1334295" y="113253"/>
              <a:ext cx="7757636" cy="733535"/>
            </a:xfrm>
            <a:prstGeom prst="rect">
              <a:avLst/>
            </a:prstGeom>
          </p:spPr>
          <p:txBody>
            <a:bodyPr lIns="0" tIns="0" rIns="0" bIns="0" rtlCol="0" anchor="t">
              <a:spAutoFit/>
            </a:bodyPr>
            <a:lstStyle/>
            <a:p>
              <a:pPr marL="0" lvl="0" indent="0" algn="l">
                <a:lnSpc>
                  <a:spcPts val="4559"/>
                </a:lnSpc>
                <a:spcBef>
                  <a:spcPct val="0"/>
                </a:spcBef>
              </a:pPr>
              <a:r>
                <a:rPr lang="en-US" sz="3799" b="1" spc="105">
                  <a:solidFill>
                    <a:srgbClr val="6E309C">
                      <a:alpha val="81961"/>
                    </a:srgbClr>
                  </a:solidFill>
                  <a:latin typeface="Arimo Bold"/>
                  <a:ea typeface="Arimo Bold"/>
                  <a:cs typeface="Arimo Bold"/>
                  <a:sym typeface="Arimo Bold"/>
                </a:rPr>
                <a:t>DEMO</a:t>
              </a:r>
            </a:p>
          </p:txBody>
        </p:sp>
      </p:grpSp>
    </p:spTree>
    <p:extLst>
      <p:ext uri="{BB962C8B-B14F-4D97-AF65-F5344CB8AC3E}">
        <p14:creationId xmlns:p14="http://schemas.microsoft.com/office/powerpoint/2010/main" val="383153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a:t>
            </a:r>
            <a:endParaRPr lang="en-US" sz="2600" b="1" spc="72">
              <a:solidFill>
                <a:srgbClr val="6E309C"/>
              </a:solidFill>
              <a:latin typeface="Arimo Bold"/>
              <a:ea typeface="Arimo Bold"/>
              <a:cs typeface="Arimo Bold"/>
              <a:sym typeface="Arimo Bold"/>
            </a:endParaRPr>
          </a:p>
        </p:txBody>
      </p:sp>
      <p:sp>
        <p:nvSpPr>
          <p:cNvPr id="38" name="TextBox 2"/>
          <p:cNvSpPr txBox="1"/>
          <p:nvPr/>
        </p:nvSpPr>
        <p:spPr>
          <a:xfrm>
            <a:off x="6531259" y="4752975"/>
            <a:ext cx="5225481" cy="771525"/>
          </a:xfrm>
          <a:prstGeom prst="rect">
            <a:avLst/>
          </a:prstGeom>
        </p:spPr>
        <p:txBody>
          <a:bodyPr lIns="0" tIns="0" rIns="0" bIns="0" rtlCol="0" anchor="t">
            <a:spAutoFit/>
          </a:bodyPr>
          <a:lstStyle/>
          <a:p>
            <a:pPr marL="0" lvl="0" indent="0" algn="ctr">
              <a:lnSpc>
                <a:spcPts val="6000"/>
              </a:lnSpc>
              <a:spcBef>
                <a:spcPct val="0"/>
              </a:spcBef>
            </a:pPr>
            <a:r>
              <a:rPr lang="en-US" sz="5000" b="1" spc="138">
                <a:solidFill>
                  <a:srgbClr val="6E309C">
                    <a:alpha val="81961"/>
                  </a:srgbClr>
                </a:solidFill>
                <a:latin typeface="Open Sans Bold"/>
                <a:ea typeface="Open Sans Bold"/>
                <a:cs typeface="Open Sans Bold"/>
                <a:sym typeface="Open Sans Bold"/>
              </a:rPr>
              <a:t>1. TỔNG QUAN</a:t>
            </a:r>
          </a:p>
        </p:txBody>
      </p:sp>
      <p:sp>
        <p:nvSpPr>
          <p:cNvPr id="39" name="AutoShape 4"/>
          <p:cNvSpPr/>
          <p:nvPr/>
        </p:nvSpPr>
        <p:spPr>
          <a:xfrm>
            <a:off x="1028706" y="1023938"/>
            <a:ext cx="14662846" cy="4762"/>
          </a:xfrm>
          <a:prstGeom prst="line">
            <a:avLst/>
          </a:prstGeom>
          <a:ln w="19050" cap="rnd">
            <a:solidFill>
              <a:srgbClr val="6E309C"/>
            </a:solidFill>
            <a:prstDash val="solid"/>
            <a:headEnd type="none" w="sm" len="sm"/>
            <a:tailEnd type="none" w="sm" len="sm"/>
          </a:ln>
        </p:spPr>
      </p:sp>
      <p:pic>
        <p:nvPicPr>
          <p:cNvPr id="43" name="Picture 42" descr="tvu"/>
          <p:cNvPicPr>
            <a:picLocks noChangeAspect="1"/>
          </p:cNvPicPr>
          <p:nvPr/>
        </p:nvPicPr>
        <p:blipFill>
          <a:blip r:embed="rId2"/>
          <a:srcRect l="20639" t="20611" r="20250" b="20046"/>
          <a:stretch>
            <a:fillRect/>
          </a:stretch>
        </p:blipFill>
        <p:spPr>
          <a:xfrm>
            <a:off x="16695420" y="706268"/>
            <a:ext cx="804049" cy="793784"/>
          </a:xfrm>
          <a:prstGeom prst="rect">
            <a:avLst/>
          </a:prstGeom>
        </p:spPr>
      </p:pic>
    </p:spTree>
    <p:extLst>
      <p:ext uri="{BB962C8B-B14F-4D97-AF65-F5344CB8AC3E}">
        <p14:creationId xmlns:p14="http://schemas.microsoft.com/office/powerpoint/2010/main" val="2634293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smtClean="0">
                <a:solidFill>
                  <a:srgbClr val="6E309C"/>
                </a:solidFill>
                <a:latin typeface="Arimo Italics"/>
                <a:ea typeface="Arimo Italics"/>
                <a:cs typeface="Arimo Italics"/>
                <a:sym typeface="Arimo Italics"/>
              </a:rPr>
              <a:t>1. Tổng quan</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a:solidFill>
                  <a:srgbClr val="6E309C"/>
                </a:solidFill>
                <a:latin typeface="Arimo Bold"/>
                <a:ea typeface="Arimo Bold"/>
                <a:cs typeface="Arimo Bold"/>
                <a:sym typeface="Arimo Bold"/>
              </a:rPr>
              <a:t>Tóm tắt nội dung</a:t>
            </a: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3</a:t>
            </a:r>
            <a:endParaRPr lang="en-US" sz="2600" b="1" spc="72">
              <a:solidFill>
                <a:srgbClr val="6E309C"/>
              </a:solidFill>
              <a:latin typeface="Arimo Bold"/>
              <a:ea typeface="Arimo Bold"/>
              <a:cs typeface="Arimo Bold"/>
              <a:sym typeface="Arimo Bold"/>
            </a:endParaRPr>
          </a:p>
        </p:txBody>
      </p:sp>
      <p:sp>
        <p:nvSpPr>
          <p:cNvPr id="38" name="TextBox 9"/>
          <p:cNvSpPr txBox="1"/>
          <p:nvPr/>
        </p:nvSpPr>
        <p:spPr>
          <a:xfrm>
            <a:off x="1026996" y="2471146"/>
            <a:ext cx="16230600" cy="1957267"/>
          </a:xfrm>
          <a:prstGeom prst="rect">
            <a:avLst/>
          </a:prstGeom>
        </p:spPr>
        <p:txBody>
          <a:bodyPr lIns="0" tIns="0" rIns="0" bIns="0" rtlCol="0" anchor="t">
            <a:spAutoFit/>
          </a:bodyPr>
          <a:lstStyle/>
          <a:p>
            <a:pPr algn="just">
              <a:lnSpc>
                <a:spcPts val="3919"/>
              </a:lnSpc>
              <a:spcBef>
                <a:spcPct val="0"/>
              </a:spcBef>
            </a:pPr>
            <a:r>
              <a:rPr lang="en-US" sz="2799" i="1">
                <a:solidFill>
                  <a:srgbClr val="000000"/>
                </a:solidFill>
                <a:latin typeface="Inter Italics"/>
                <a:ea typeface="Inter Italics"/>
                <a:cs typeface="Inter Italics"/>
                <a:sym typeface="Inter Italics"/>
              </a:rPr>
              <a:t>  </a:t>
            </a:r>
            <a:r>
              <a:rPr lang="vi-VN" sz="2799" i="1">
                <a:solidFill>
                  <a:srgbClr val="000000"/>
                </a:solidFill>
                <a:latin typeface="Inter Italics"/>
                <a:ea typeface="Inter Italics"/>
                <a:cs typeface="Inter Italics"/>
                <a:sym typeface="Inter Italics"/>
              </a:rPr>
              <a:t>Trong thời đại số hóa, quá trình tuyển dụng </a:t>
            </a:r>
            <a:r>
              <a:rPr lang="vi-VN" sz="2799" b="1" i="1">
                <a:solidFill>
                  <a:srgbClr val="6E309C"/>
                </a:solidFill>
                <a:latin typeface="Inter Italics"/>
                <a:ea typeface="Inter Italics"/>
                <a:cs typeface="Inter Italics"/>
                <a:sym typeface="Inter Italics"/>
              </a:rPr>
              <a:t>không chỉ đánh giá năng lực chuyên môn</a:t>
            </a:r>
            <a:r>
              <a:rPr lang="vi-VN" sz="2799" i="1">
                <a:solidFill>
                  <a:srgbClr val="000000"/>
                </a:solidFill>
                <a:latin typeface="Inter Italics"/>
                <a:ea typeface="Inter Italics"/>
                <a:cs typeface="Inter Italics"/>
                <a:sym typeface="Inter Italics"/>
              </a:rPr>
              <a:t> mà còn yêu cầu ứng viên thể hiện sự chuyên nghiệp thông qua hồ sơ xin việc. Tuy nhiên, việc xây dựng một hồ sơ rõ ràng, phù hợp với từng vị trí không hề dễ dàng, đặc biệt đối với sinh viên mới ra trường hoặc người ít kinh nghiệm</a:t>
            </a:r>
            <a:r>
              <a:rPr lang="vi-VN" sz="2799" i="1" smtClean="0">
                <a:solidFill>
                  <a:srgbClr val="000000"/>
                </a:solidFill>
                <a:latin typeface="Inter Italics"/>
                <a:ea typeface="Inter Italics"/>
                <a:cs typeface="Inter Italics"/>
                <a:sym typeface="Inter Italics"/>
              </a:rPr>
              <a:t>.</a:t>
            </a:r>
            <a:endParaRPr lang="en-US" sz="2799" i="1" smtClean="0">
              <a:solidFill>
                <a:srgbClr val="000000"/>
              </a:solidFill>
              <a:latin typeface="Inter Italics"/>
              <a:ea typeface="Inter Italics"/>
              <a:cs typeface="Inter Italics"/>
              <a:sym typeface="Inter Italics"/>
            </a:endParaRPr>
          </a:p>
        </p:txBody>
      </p:sp>
      <p:sp>
        <p:nvSpPr>
          <p:cNvPr id="39" name="TextBox 9"/>
          <p:cNvSpPr txBox="1"/>
          <p:nvPr/>
        </p:nvSpPr>
        <p:spPr>
          <a:xfrm>
            <a:off x="1026996" y="4653663"/>
            <a:ext cx="16230600" cy="1000274"/>
          </a:xfrm>
          <a:prstGeom prst="rect">
            <a:avLst/>
          </a:prstGeom>
        </p:spPr>
        <p:txBody>
          <a:bodyPr lIns="0" tIns="0" rIns="0" bIns="0" rtlCol="0" anchor="t">
            <a:spAutoFit/>
          </a:bodyPr>
          <a:lstStyle/>
          <a:p>
            <a:pPr algn="just">
              <a:lnSpc>
                <a:spcPts val="3919"/>
              </a:lnSpc>
              <a:spcBef>
                <a:spcPct val="0"/>
              </a:spcBef>
            </a:pPr>
            <a:r>
              <a:rPr lang="en-US" sz="2799" i="1">
                <a:solidFill>
                  <a:srgbClr val="000000"/>
                </a:solidFill>
                <a:latin typeface="Inter Italics"/>
                <a:ea typeface="Inter Italics"/>
                <a:cs typeface="Inter Italics"/>
                <a:sym typeface="Inter Italics"/>
              </a:rPr>
              <a:t>  </a:t>
            </a:r>
            <a:r>
              <a:rPr lang="vi-VN" sz="2799" i="1">
                <a:solidFill>
                  <a:srgbClr val="000000"/>
                </a:solidFill>
                <a:latin typeface="Inter Italics"/>
                <a:ea typeface="Inter Italics"/>
                <a:cs typeface="Inter Italics"/>
                <a:sym typeface="Inter Italics"/>
              </a:rPr>
              <a:t>Bên cạnh đó, </a:t>
            </a:r>
            <a:r>
              <a:rPr lang="vi-VN" sz="2799" b="1" i="1">
                <a:solidFill>
                  <a:srgbClr val="6E309C"/>
                </a:solidFill>
                <a:latin typeface="Inter Italics"/>
                <a:ea typeface="Inter Italics"/>
                <a:cs typeface="Inter Italics"/>
                <a:sym typeface="Inter Italics"/>
              </a:rPr>
              <a:t>thông tin việc làm còn phân tán </a:t>
            </a:r>
            <a:r>
              <a:rPr lang="vi-VN" sz="2799" i="1">
                <a:solidFill>
                  <a:srgbClr val="000000"/>
                </a:solidFill>
                <a:latin typeface="Inter Italics"/>
                <a:ea typeface="Inter Italics"/>
                <a:cs typeface="Inter Italics"/>
                <a:sym typeface="Inter Italics"/>
              </a:rPr>
              <a:t>và thiếu các công cụ hỗ trợ đánh giá, khiến nhiều ứng viên tiềm năng bị loại ngay từ vòng sàng lọc</a:t>
            </a:r>
            <a:r>
              <a:rPr lang="vi-VN" sz="2799" i="1" smtClean="0">
                <a:solidFill>
                  <a:srgbClr val="000000"/>
                </a:solidFill>
                <a:latin typeface="Inter Italics"/>
                <a:ea typeface="Inter Italics"/>
                <a:cs typeface="Inter Italics"/>
                <a:sym typeface="Inter Italics"/>
              </a:rPr>
              <a:t>.</a:t>
            </a:r>
            <a:endParaRPr lang="en-US" sz="2799" i="1" smtClean="0">
              <a:solidFill>
                <a:srgbClr val="000000"/>
              </a:solidFill>
              <a:latin typeface="Inter Italics"/>
              <a:ea typeface="Inter Italics"/>
              <a:cs typeface="Inter Italics"/>
              <a:sym typeface="Inter Italics"/>
            </a:endParaRPr>
          </a:p>
        </p:txBody>
      </p:sp>
      <p:sp>
        <p:nvSpPr>
          <p:cNvPr id="41" name="TextBox 9"/>
          <p:cNvSpPr txBox="1"/>
          <p:nvPr/>
        </p:nvSpPr>
        <p:spPr>
          <a:xfrm>
            <a:off x="1026996" y="5919277"/>
            <a:ext cx="16230600" cy="1500411"/>
          </a:xfrm>
          <a:prstGeom prst="rect">
            <a:avLst/>
          </a:prstGeom>
        </p:spPr>
        <p:txBody>
          <a:bodyPr lIns="0" tIns="0" rIns="0" bIns="0" rtlCol="0" anchor="t">
            <a:spAutoFit/>
          </a:bodyPr>
          <a:lstStyle/>
          <a:p>
            <a:pPr algn="just">
              <a:lnSpc>
                <a:spcPts val="3919"/>
              </a:lnSpc>
              <a:spcBef>
                <a:spcPct val="0"/>
              </a:spcBef>
            </a:pPr>
            <a:r>
              <a:rPr lang="en-US" sz="2799" i="1">
                <a:solidFill>
                  <a:srgbClr val="000000"/>
                </a:solidFill>
                <a:latin typeface="Inter Italics"/>
                <a:ea typeface="Inter Italics"/>
                <a:cs typeface="Inter Italics"/>
                <a:sym typeface="Inter Italics"/>
              </a:rPr>
              <a:t>  </a:t>
            </a:r>
            <a:r>
              <a:rPr lang="vi-VN" sz="2799" i="1">
                <a:solidFill>
                  <a:srgbClr val="000000"/>
                </a:solidFill>
                <a:latin typeface="Inter Italics"/>
                <a:ea typeface="Inter Italics"/>
                <a:cs typeface="Inter Italics"/>
                <a:sym typeface="Inter Italics"/>
              </a:rPr>
              <a:t>Trước thực trạng này, việc ứng dụng </a:t>
            </a:r>
            <a:r>
              <a:rPr lang="vi-VN" sz="2799" b="1" i="1">
                <a:solidFill>
                  <a:srgbClr val="6E309C"/>
                </a:solidFill>
                <a:latin typeface="Inter Italics"/>
                <a:ea typeface="Inter Italics"/>
                <a:cs typeface="Inter Italics"/>
                <a:sym typeface="Inter Italics"/>
              </a:rPr>
              <a:t>công nghệ và trí tuệ nhân tạo</a:t>
            </a:r>
            <a:r>
              <a:rPr lang="vi-VN" sz="2799" i="1">
                <a:solidFill>
                  <a:srgbClr val="000000"/>
                </a:solidFill>
                <a:latin typeface="Inter Italics"/>
                <a:ea typeface="Inter Italics"/>
                <a:cs typeface="Inter Italics"/>
                <a:sym typeface="Inter Italics"/>
              </a:rPr>
              <a:t> vào quá trình tìm kiếm và tối ưu hồ sơ được xem là </a:t>
            </a:r>
            <a:r>
              <a:rPr lang="vi-VN" sz="2799" b="1" i="1">
                <a:solidFill>
                  <a:srgbClr val="6E309C"/>
                </a:solidFill>
                <a:latin typeface="Inter Italics"/>
                <a:ea typeface="Inter Italics"/>
                <a:cs typeface="Inter Italics"/>
                <a:sym typeface="Inter Italics"/>
              </a:rPr>
              <a:t>hướng tiếp cận hiệu quả</a:t>
            </a:r>
            <a:r>
              <a:rPr lang="vi-VN" sz="2799" i="1">
                <a:solidFill>
                  <a:srgbClr val="000000"/>
                </a:solidFill>
                <a:latin typeface="Inter Italics"/>
                <a:ea typeface="Inter Italics"/>
                <a:cs typeface="Inter Italics"/>
                <a:sym typeface="Inter Italics"/>
              </a:rPr>
              <a:t>, giúp ứng viên chủ động hoàn thiện hồ sơ và nâng cao cơ hội trúng tuyển.</a:t>
            </a:r>
            <a:endParaRPr lang="en-US" sz="2799" i="1" smtClean="0">
              <a:solidFill>
                <a:srgbClr val="000000"/>
              </a:solidFill>
              <a:latin typeface="Inter Italics"/>
              <a:ea typeface="Inter Italics"/>
              <a:cs typeface="Inter Italics"/>
              <a:sym typeface="Inter Italics"/>
            </a:endParaRPr>
          </a:p>
        </p:txBody>
      </p:sp>
    </p:spTree>
    <p:extLst>
      <p:ext uri="{BB962C8B-B14F-4D97-AF65-F5344CB8AC3E}">
        <p14:creationId xmlns:p14="http://schemas.microsoft.com/office/powerpoint/2010/main" val="1461099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smtClean="0">
                <a:solidFill>
                  <a:srgbClr val="6E309C"/>
                </a:solidFill>
                <a:latin typeface="Arimo Italics"/>
                <a:ea typeface="Arimo Italics"/>
                <a:cs typeface="Arimo Italics"/>
                <a:sym typeface="Arimo Italics"/>
              </a:rPr>
              <a:t>1. Tổng quan</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Mục tiêu và nội dung nghiên cứu</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4</a:t>
            </a:r>
            <a:endParaRPr lang="en-US" sz="2600" b="1" spc="72">
              <a:solidFill>
                <a:srgbClr val="6E309C"/>
              </a:solidFill>
              <a:latin typeface="Arimo Bold"/>
              <a:ea typeface="Arimo Bold"/>
              <a:cs typeface="Arimo Bold"/>
              <a:sym typeface="Arimo Bold"/>
            </a:endParaRPr>
          </a:p>
        </p:txBody>
      </p:sp>
      <p:sp>
        <p:nvSpPr>
          <p:cNvPr id="11" name="TextBox 2"/>
          <p:cNvSpPr txBox="1"/>
          <p:nvPr/>
        </p:nvSpPr>
        <p:spPr>
          <a:xfrm>
            <a:off x="1085850" y="2736345"/>
            <a:ext cx="16230600" cy="1481455"/>
          </a:xfrm>
          <a:prstGeom prst="rect">
            <a:avLst/>
          </a:prstGeom>
        </p:spPr>
        <p:txBody>
          <a:bodyPr lIns="0" tIns="0" rIns="0" bIns="0" rtlCol="0" anchor="t">
            <a:spAutoFit/>
          </a:bodyPr>
          <a:lstStyle/>
          <a:p>
            <a:pPr algn="just">
              <a:lnSpc>
                <a:spcPts val="3919"/>
              </a:lnSpc>
              <a:spcBef>
                <a:spcPct val="0"/>
              </a:spcBef>
            </a:pPr>
            <a:r>
              <a:rPr lang="vi-VN" sz="2799">
                <a:solidFill>
                  <a:srgbClr val="000000"/>
                </a:solidFill>
                <a:latin typeface="Inter"/>
                <a:ea typeface="Inter"/>
                <a:cs typeface="Inter"/>
                <a:sym typeface="Inter"/>
              </a:rPr>
              <a:t>Xây dựng hệ thống hỗ trợ người dùng tạo, quản lý và tối ưu hóa hồ sơ xin việc, đồng thời kết nối hiệu quả giữa ứng viên và nhà tuyển dụng thông qua nền tảng tìm kiếm và ứng tuyển việc làm trực tuyến, góp phần nâng cao cơ hội trúng tuyển.</a:t>
            </a:r>
            <a:endParaRPr lang="en-US" sz="2799">
              <a:solidFill>
                <a:srgbClr val="000000"/>
              </a:solidFill>
              <a:latin typeface="Inter"/>
              <a:ea typeface="Inter"/>
              <a:cs typeface="Inter"/>
              <a:sym typeface="Inter"/>
            </a:endParaRPr>
          </a:p>
        </p:txBody>
      </p:sp>
      <p:sp>
        <p:nvSpPr>
          <p:cNvPr id="12" name="TextBox 3"/>
          <p:cNvSpPr txBox="1"/>
          <p:nvPr/>
        </p:nvSpPr>
        <p:spPr>
          <a:xfrm>
            <a:off x="1085850" y="2188340"/>
            <a:ext cx="4700747" cy="456856"/>
          </a:xfrm>
          <a:prstGeom prst="rect">
            <a:avLst/>
          </a:prstGeom>
        </p:spPr>
        <p:txBody>
          <a:bodyPr lIns="0" tIns="0" rIns="0" bIns="0" rtlCol="0" anchor="t">
            <a:spAutoFit/>
          </a:bodyPr>
          <a:lstStyle/>
          <a:p>
            <a:pPr algn="just">
              <a:lnSpc>
                <a:spcPts val="3919"/>
              </a:lnSpc>
              <a:spcBef>
                <a:spcPct val="0"/>
              </a:spcBef>
            </a:pPr>
            <a:r>
              <a:rPr lang="en-US" sz="2799" b="1">
                <a:solidFill>
                  <a:srgbClr val="6E309C"/>
                </a:solidFill>
                <a:latin typeface="Inter Bold"/>
                <a:ea typeface="Inter Bold"/>
                <a:cs typeface="Inter Bold"/>
                <a:sym typeface="Inter Bold"/>
              </a:rPr>
              <a:t>Mục tiêu nghiên cứu</a:t>
            </a:r>
          </a:p>
        </p:txBody>
      </p:sp>
      <p:sp>
        <p:nvSpPr>
          <p:cNvPr id="13" name="TextBox 4"/>
          <p:cNvSpPr txBox="1"/>
          <p:nvPr/>
        </p:nvSpPr>
        <p:spPr>
          <a:xfrm>
            <a:off x="1085850" y="5064630"/>
            <a:ext cx="16230600" cy="3000821"/>
          </a:xfrm>
          <a:prstGeom prst="rect">
            <a:avLst/>
          </a:prstGeom>
        </p:spPr>
        <p:txBody>
          <a:bodyPr lIns="0" tIns="0" rIns="0" bIns="0" rtlCol="0" anchor="t">
            <a:spAutoFit/>
          </a:bodyPr>
          <a:lstStyle/>
          <a:p>
            <a:pPr algn="just">
              <a:lnSpc>
                <a:spcPts val="3919"/>
              </a:lnSpc>
            </a:pPr>
            <a:r>
              <a:rPr lang="en-US" sz="2799">
                <a:solidFill>
                  <a:srgbClr val="000000"/>
                </a:solidFill>
                <a:latin typeface="Inter"/>
                <a:ea typeface="Inter"/>
                <a:cs typeface="Inter"/>
                <a:sym typeface="Inter"/>
              </a:rPr>
              <a:t>- </a:t>
            </a:r>
            <a:r>
              <a:rPr lang="en-US" sz="2799" smtClean="0">
                <a:solidFill>
                  <a:srgbClr val="000000"/>
                </a:solidFill>
                <a:latin typeface="Inter"/>
                <a:ea typeface="Inter"/>
                <a:cs typeface="Inter"/>
                <a:sym typeface="Inter"/>
              </a:rPr>
              <a:t>Nghiên </a:t>
            </a:r>
            <a:r>
              <a:rPr lang="en-US" sz="2799">
                <a:solidFill>
                  <a:srgbClr val="000000"/>
                </a:solidFill>
                <a:latin typeface="Inter"/>
                <a:ea typeface="Inter"/>
                <a:cs typeface="Inter"/>
                <a:sym typeface="Inter"/>
              </a:rPr>
              <a:t>cứu quy trình tìm kiếm, đăng tuyển và ứng tuyển việc làm</a:t>
            </a:r>
            <a:r>
              <a:rPr lang="en-US" sz="2799" smtClean="0">
                <a:solidFill>
                  <a:srgbClr val="000000"/>
                </a:solidFill>
                <a:latin typeface="Inter"/>
                <a:ea typeface="Inter"/>
                <a:cs typeface="Inter"/>
                <a:sym typeface="Inter"/>
              </a:rPr>
              <a:t>.</a:t>
            </a:r>
          </a:p>
          <a:p>
            <a:pPr algn="just">
              <a:lnSpc>
                <a:spcPts val="3919"/>
              </a:lnSpc>
            </a:pPr>
            <a:r>
              <a:rPr lang="en-US" sz="2799" smtClean="0">
                <a:solidFill>
                  <a:srgbClr val="000000"/>
                </a:solidFill>
                <a:latin typeface="Inter"/>
                <a:ea typeface="Inter"/>
                <a:cs typeface="Inter"/>
                <a:sym typeface="Inter"/>
              </a:rPr>
              <a:t>- </a:t>
            </a:r>
            <a:r>
              <a:rPr lang="en-US" sz="2799">
                <a:solidFill>
                  <a:srgbClr val="000000"/>
                </a:solidFill>
                <a:latin typeface="Inter"/>
                <a:ea typeface="Inter"/>
                <a:cs typeface="Inter"/>
                <a:sym typeface="Inter"/>
              </a:rPr>
              <a:t>Tìm hiểu về Next.js và các công nghệ </a:t>
            </a:r>
            <a:r>
              <a:rPr lang="en-US" sz="2799" smtClean="0">
                <a:solidFill>
                  <a:srgbClr val="000000"/>
                </a:solidFill>
                <a:latin typeface="Inter"/>
                <a:ea typeface="Inter"/>
                <a:cs typeface="Inter"/>
                <a:sym typeface="Inter"/>
              </a:rPr>
              <a:t>frontend liên </a:t>
            </a:r>
            <a:r>
              <a:rPr lang="en-US" sz="2799">
                <a:solidFill>
                  <a:srgbClr val="000000"/>
                </a:solidFill>
                <a:latin typeface="Inter"/>
                <a:ea typeface="Inter"/>
                <a:cs typeface="Inter"/>
                <a:sym typeface="Inter"/>
              </a:rPr>
              <a:t>quan. </a:t>
            </a:r>
          </a:p>
          <a:p>
            <a:pPr algn="just">
              <a:lnSpc>
                <a:spcPts val="3919"/>
              </a:lnSpc>
            </a:pPr>
            <a:r>
              <a:rPr lang="en-US" sz="2799">
                <a:solidFill>
                  <a:srgbClr val="000000"/>
                </a:solidFill>
                <a:latin typeface="Inter"/>
                <a:ea typeface="Inter"/>
                <a:cs typeface="Inter"/>
                <a:sym typeface="Inter"/>
              </a:rPr>
              <a:t>- </a:t>
            </a:r>
            <a:r>
              <a:rPr lang="en-US" sz="2799" smtClean="0">
                <a:solidFill>
                  <a:srgbClr val="000000"/>
                </a:solidFill>
                <a:latin typeface="Inter"/>
                <a:ea typeface="Inter"/>
                <a:cs typeface="Inter"/>
                <a:sym typeface="Inter"/>
              </a:rPr>
              <a:t>Nghiên cứu Node.js, Express.js, Clean Architecture và MySQL</a:t>
            </a:r>
          </a:p>
          <a:p>
            <a:pPr algn="just">
              <a:lnSpc>
                <a:spcPts val="3919"/>
              </a:lnSpc>
            </a:pPr>
            <a:r>
              <a:rPr lang="en-US" sz="2799" smtClean="0">
                <a:solidFill>
                  <a:srgbClr val="000000"/>
                </a:solidFill>
                <a:latin typeface="Inter"/>
                <a:ea typeface="Inter"/>
                <a:cs typeface="Inter"/>
                <a:sym typeface="Inter"/>
              </a:rPr>
              <a:t>- Tìm hiểu mô hình RESTful API.</a:t>
            </a:r>
          </a:p>
          <a:p>
            <a:pPr algn="just">
              <a:lnSpc>
                <a:spcPts val="3919"/>
              </a:lnSpc>
              <a:spcBef>
                <a:spcPct val="0"/>
              </a:spcBef>
            </a:pPr>
            <a:r>
              <a:rPr lang="en-US" sz="2799" smtClean="0">
                <a:solidFill>
                  <a:srgbClr val="000000"/>
                </a:solidFill>
                <a:latin typeface="Inter"/>
                <a:ea typeface="Inter"/>
                <a:cs typeface="Inter"/>
                <a:sym typeface="Inter"/>
              </a:rPr>
              <a:t>- </a:t>
            </a:r>
            <a:r>
              <a:rPr lang="en-US" sz="2799">
                <a:solidFill>
                  <a:srgbClr val="000000"/>
                </a:solidFill>
                <a:latin typeface="Inter"/>
                <a:ea typeface="Inter"/>
                <a:cs typeface="Inter"/>
                <a:sym typeface="Inter"/>
              </a:rPr>
              <a:t>Vận dụng các kiến thức trên để thiết kế và xây dựng hệ thống hệ thống website tìm kiếm và ứng tuyển việc làm.</a:t>
            </a:r>
          </a:p>
        </p:txBody>
      </p:sp>
      <p:sp>
        <p:nvSpPr>
          <p:cNvPr id="14" name="TextBox 5"/>
          <p:cNvSpPr txBox="1"/>
          <p:nvPr/>
        </p:nvSpPr>
        <p:spPr>
          <a:xfrm>
            <a:off x="1085850" y="4516625"/>
            <a:ext cx="4700747" cy="456856"/>
          </a:xfrm>
          <a:prstGeom prst="rect">
            <a:avLst/>
          </a:prstGeom>
        </p:spPr>
        <p:txBody>
          <a:bodyPr lIns="0" tIns="0" rIns="0" bIns="0" rtlCol="0" anchor="t">
            <a:spAutoFit/>
          </a:bodyPr>
          <a:lstStyle/>
          <a:p>
            <a:pPr algn="just">
              <a:lnSpc>
                <a:spcPts val="3919"/>
              </a:lnSpc>
              <a:spcBef>
                <a:spcPct val="0"/>
              </a:spcBef>
            </a:pPr>
            <a:r>
              <a:rPr lang="en-US" sz="2799" b="1">
                <a:solidFill>
                  <a:srgbClr val="6E309C"/>
                </a:solidFill>
                <a:latin typeface="Inter Bold"/>
                <a:ea typeface="Inter Bold"/>
                <a:cs typeface="Inter Bold"/>
                <a:sym typeface="Inter Bold"/>
              </a:rPr>
              <a:t>Nội dung nghiên cứu</a:t>
            </a:r>
          </a:p>
        </p:txBody>
      </p:sp>
    </p:spTree>
    <p:extLst>
      <p:ext uri="{BB962C8B-B14F-4D97-AF65-F5344CB8AC3E}">
        <p14:creationId xmlns:p14="http://schemas.microsoft.com/office/powerpoint/2010/main" val="961820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5</a:t>
            </a:r>
            <a:endParaRPr lang="en-US" sz="2600" b="1" spc="72">
              <a:solidFill>
                <a:srgbClr val="6E309C"/>
              </a:solidFill>
              <a:latin typeface="Arimo Bold"/>
              <a:ea typeface="Arimo Bold"/>
              <a:cs typeface="Arimo Bold"/>
              <a:sym typeface="Arimo Bold"/>
            </a:endParaRPr>
          </a:p>
        </p:txBody>
      </p:sp>
      <p:sp>
        <p:nvSpPr>
          <p:cNvPr id="38" name="TextBox 2"/>
          <p:cNvSpPr txBox="1"/>
          <p:nvPr/>
        </p:nvSpPr>
        <p:spPr>
          <a:xfrm>
            <a:off x="6008744" y="4758779"/>
            <a:ext cx="6596912" cy="769441"/>
          </a:xfrm>
          <a:prstGeom prst="rect">
            <a:avLst/>
          </a:prstGeom>
        </p:spPr>
        <p:txBody>
          <a:bodyPr wrap="square" lIns="0" tIns="0" rIns="0" bIns="0" rtlCol="0" anchor="t">
            <a:spAutoFit/>
          </a:bodyPr>
          <a:lstStyle/>
          <a:p>
            <a:pPr marL="0" lvl="0" indent="0" algn="ctr">
              <a:lnSpc>
                <a:spcPts val="6000"/>
              </a:lnSpc>
              <a:spcBef>
                <a:spcPct val="0"/>
              </a:spcBef>
            </a:pPr>
            <a:r>
              <a:rPr lang="en-US" sz="5000" b="1" spc="138">
                <a:solidFill>
                  <a:srgbClr val="6E309C">
                    <a:alpha val="81961"/>
                  </a:srgbClr>
                </a:solidFill>
                <a:latin typeface="Open Sans Bold"/>
                <a:ea typeface="Open Sans Bold"/>
                <a:cs typeface="Open Sans Bold"/>
                <a:sym typeface="Open Sans Bold"/>
              </a:rPr>
              <a:t>2</a:t>
            </a:r>
            <a:r>
              <a:rPr lang="en-US" sz="5000" b="1" spc="138" smtClean="0">
                <a:solidFill>
                  <a:srgbClr val="6E309C">
                    <a:alpha val="81961"/>
                  </a:srgbClr>
                </a:solidFill>
                <a:latin typeface="Open Sans Bold"/>
                <a:ea typeface="Open Sans Bold"/>
                <a:cs typeface="Open Sans Bold"/>
                <a:sym typeface="Open Sans Bold"/>
              </a:rPr>
              <a:t>. CƠ SỞ LÝ THUYẾT</a:t>
            </a:r>
            <a:endParaRPr lang="en-US" sz="5000" b="1" spc="138">
              <a:solidFill>
                <a:srgbClr val="6E309C">
                  <a:alpha val="81961"/>
                </a:srgbClr>
              </a:solidFill>
              <a:latin typeface="Open Sans Bold"/>
              <a:ea typeface="Open Sans Bold"/>
              <a:cs typeface="Open Sans Bold"/>
              <a:sym typeface="Open Sans Bold"/>
            </a:endParaRPr>
          </a:p>
        </p:txBody>
      </p:sp>
      <p:sp>
        <p:nvSpPr>
          <p:cNvPr id="39" name="AutoShape 4"/>
          <p:cNvSpPr/>
          <p:nvPr/>
        </p:nvSpPr>
        <p:spPr>
          <a:xfrm>
            <a:off x="1028706" y="1023938"/>
            <a:ext cx="14662846" cy="4762"/>
          </a:xfrm>
          <a:prstGeom prst="line">
            <a:avLst/>
          </a:prstGeom>
          <a:ln w="19050" cap="rnd">
            <a:solidFill>
              <a:srgbClr val="6E309C"/>
            </a:solidFill>
            <a:prstDash val="solid"/>
            <a:headEnd type="none" w="sm" len="sm"/>
            <a:tailEnd type="none" w="sm" len="sm"/>
          </a:ln>
        </p:spPr>
      </p:sp>
      <p:pic>
        <p:nvPicPr>
          <p:cNvPr id="43" name="Picture 42" descr="tvu"/>
          <p:cNvPicPr>
            <a:picLocks noChangeAspect="1"/>
          </p:cNvPicPr>
          <p:nvPr/>
        </p:nvPicPr>
        <p:blipFill>
          <a:blip r:embed="rId2"/>
          <a:srcRect l="20639" t="20611" r="20250" b="20046"/>
          <a:stretch>
            <a:fillRect/>
          </a:stretch>
        </p:blipFill>
        <p:spPr>
          <a:xfrm>
            <a:off x="16695420" y="706268"/>
            <a:ext cx="804049" cy="793784"/>
          </a:xfrm>
          <a:prstGeom prst="rect">
            <a:avLst/>
          </a:prstGeom>
        </p:spPr>
      </p:pic>
    </p:spTree>
    <p:extLst>
      <p:ext uri="{BB962C8B-B14F-4D97-AF65-F5344CB8AC3E}">
        <p14:creationId xmlns:p14="http://schemas.microsoft.com/office/powerpoint/2010/main" val="2945382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2</a:t>
            </a:r>
            <a:r>
              <a:rPr lang="en-US" sz="2600" i="1" spc="72" smtClean="0">
                <a:solidFill>
                  <a:srgbClr val="6E309C"/>
                </a:solidFill>
                <a:latin typeface="Arimo Italics"/>
                <a:ea typeface="Arimo Italics"/>
                <a:cs typeface="Arimo Italics"/>
                <a:sym typeface="Arimo Italics"/>
              </a:rPr>
              <a:t>. </a:t>
            </a:r>
            <a:r>
              <a:rPr lang="vi-VN" sz="2600" i="1" spc="72" smtClean="0">
                <a:solidFill>
                  <a:srgbClr val="6E309C"/>
                </a:solidFill>
                <a:latin typeface="Arimo Italics"/>
                <a:ea typeface="Arimo Italics"/>
                <a:cs typeface="Arimo Italics"/>
                <a:sym typeface="Arimo Italics"/>
              </a:rPr>
              <a:t>Cơ</a:t>
            </a:r>
            <a:r>
              <a:rPr lang="en-US" sz="2600" i="1" spc="72" smtClean="0">
                <a:solidFill>
                  <a:srgbClr val="6E309C"/>
                </a:solidFill>
                <a:latin typeface="Arimo Italics"/>
                <a:ea typeface="Arimo Italics"/>
                <a:cs typeface="Arimo Italics"/>
                <a:sym typeface="Arimo Italics"/>
              </a:rPr>
              <a:t> sở lý thuyết</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Next.js</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6</a:t>
            </a:r>
            <a:endParaRPr lang="en-US" sz="2600" b="1" spc="72">
              <a:solidFill>
                <a:srgbClr val="6E309C"/>
              </a:solidFill>
              <a:latin typeface="Arimo Bold"/>
              <a:ea typeface="Arimo Bold"/>
              <a:cs typeface="Arimo Bold"/>
              <a:sym typeface="Arimo Bold"/>
            </a:endParaRPr>
          </a:p>
        </p:txBody>
      </p:sp>
      <p:sp>
        <p:nvSpPr>
          <p:cNvPr id="15" name="TextBox 2"/>
          <p:cNvSpPr txBox="1"/>
          <p:nvPr/>
        </p:nvSpPr>
        <p:spPr>
          <a:xfrm>
            <a:off x="763112" y="3731758"/>
            <a:ext cx="7262188" cy="1481455"/>
          </a:xfrm>
          <a:prstGeom prst="rect">
            <a:avLst/>
          </a:prstGeom>
        </p:spPr>
        <p:txBody>
          <a:bodyPr lIns="0" tIns="0" rIns="0" bIns="0" rtlCol="0" anchor="t">
            <a:spAutoFit/>
          </a:bodyPr>
          <a:lstStyle/>
          <a:p>
            <a:pPr marL="0" lvl="0" indent="0" algn="just">
              <a:lnSpc>
                <a:spcPts val="3919"/>
              </a:lnSpc>
              <a:spcBef>
                <a:spcPct val="0"/>
              </a:spcBef>
            </a:pPr>
            <a:r>
              <a:rPr lang="en-US" sz="2799" b="1" u="none" strike="noStrike">
                <a:solidFill>
                  <a:srgbClr val="000000"/>
                </a:solidFill>
                <a:latin typeface="Inter Bold"/>
                <a:ea typeface="Inter Bold"/>
                <a:cs typeface="Inter Bold"/>
                <a:sym typeface="Inter Bold"/>
              </a:rPr>
              <a:t>Next.js</a:t>
            </a:r>
            <a:r>
              <a:rPr lang="en-US" sz="2799" u="none" strike="noStrike">
                <a:solidFill>
                  <a:srgbClr val="000000"/>
                </a:solidFill>
                <a:latin typeface="Inter"/>
                <a:ea typeface="Inter"/>
                <a:cs typeface="Inter"/>
                <a:sym typeface="Inter"/>
              </a:rPr>
              <a:t> là một framework JavaScript mạnh mẽ được phát triển bởi Vercel, dựa trên thư viện React. </a:t>
            </a:r>
          </a:p>
        </p:txBody>
      </p:sp>
      <p:grpSp>
        <p:nvGrpSpPr>
          <p:cNvPr id="16" name="Group 3"/>
          <p:cNvGrpSpPr/>
          <p:nvPr/>
        </p:nvGrpSpPr>
        <p:grpSpPr>
          <a:xfrm>
            <a:off x="9307802" y="1134235"/>
            <a:ext cx="7705556" cy="7243800"/>
            <a:chOff x="0" y="0"/>
            <a:chExt cx="10274074" cy="9658400"/>
          </a:xfrm>
        </p:grpSpPr>
        <p:sp>
          <p:nvSpPr>
            <p:cNvPr id="17" name="Freeform 4"/>
            <p:cNvSpPr/>
            <p:nvPr/>
          </p:nvSpPr>
          <p:spPr>
            <a:xfrm>
              <a:off x="0" y="0"/>
              <a:ext cx="10274074" cy="9658400"/>
            </a:xfrm>
            <a:custGeom>
              <a:avLst/>
              <a:gdLst/>
              <a:ahLst/>
              <a:cxnLst/>
              <a:rect l="l" t="t" r="r" b="b"/>
              <a:pathLst>
                <a:path w="10274074" h="9658400">
                  <a:moveTo>
                    <a:pt x="0" y="0"/>
                  </a:moveTo>
                  <a:lnTo>
                    <a:pt x="10274074" y="0"/>
                  </a:lnTo>
                  <a:lnTo>
                    <a:pt x="10274074" y="9658400"/>
                  </a:lnTo>
                  <a:lnTo>
                    <a:pt x="0" y="9658400"/>
                  </a:lnTo>
                  <a:lnTo>
                    <a:pt x="0" y="0"/>
                  </a:lnTo>
                  <a:close/>
                </a:path>
              </a:pathLst>
            </a:custGeom>
            <a:blipFill>
              <a:blip r:embed="rId2"/>
              <a:stretch>
                <a:fillRect l="-37471" t="-8133" r="-36716" b="-7673"/>
              </a:stretch>
            </a:blipFill>
          </p:spPr>
        </p:sp>
        <p:grpSp>
          <p:nvGrpSpPr>
            <p:cNvPr id="18" name="Group 5"/>
            <p:cNvGrpSpPr/>
            <p:nvPr/>
          </p:nvGrpSpPr>
          <p:grpSpPr>
            <a:xfrm rot="545193">
              <a:off x="1415951" y="1939667"/>
              <a:ext cx="2192740" cy="1884386"/>
              <a:chOff x="0" y="0"/>
              <a:chExt cx="812800" cy="698500"/>
            </a:xfrm>
          </p:grpSpPr>
          <p:sp>
            <p:nvSpPr>
              <p:cNvPr id="44" name="Freeform 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45" name="TextBox 7"/>
              <p:cNvSpPr txBox="1"/>
              <p:nvPr/>
            </p:nvSpPr>
            <p:spPr>
              <a:xfrm>
                <a:off x="114300" y="-47625"/>
                <a:ext cx="584200" cy="746125"/>
              </a:xfrm>
              <a:prstGeom prst="rect">
                <a:avLst/>
              </a:prstGeom>
            </p:spPr>
            <p:txBody>
              <a:bodyPr lIns="50800" tIns="50800" rIns="50800" bIns="50800" rtlCol="0" anchor="ctr"/>
              <a:lstStyle/>
              <a:p>
                <a:pPr algn="ctr">
                  <a:lnSpc>
                    <a:spcPts val="3499"/>
                  </a:lnSpc>
                </a:pPr>
                <a:endParaRPr/>
              </a:p>
            </p:txBody>
          </p:sp>
        </p:grpSp>
        <p:grpSp>
          <p:nvGrpSpPr>
            <p:cNvPr id="19" name="Group 8"/>
            <p:cNvGrpSpPr/>
            <p:nvPr/>
          </p:nvGrpSpPr>
          <p:grpSpPr>
            <a:xfrm rot="-2527178">
              <a:off x="814591" y="4729675"/>
              <a:ext cx="2171325" cy="1865982"/>
              <a:chOff x="0" y="0"/>
              <a:chExt cx="812800" cy="698500"/>
            </a:xfrm>
          </p:grpSpPr>
          <p:sp>
            <p:nvSpPr>
              <p:cNvPr id="42" name="Freeform 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43" name="TextBox 10"/>
              <p:cNvSpPr txBox="1"/>
              <p:nvPr/>
            </p:nvSpPr>
            <p:spPr>
              <a:xfrm>
                <a:off x="114300" y="-47625"/>
                <a:ext cx="584200" cy="746125"/>
              </a:xfrm>
              <a:prstGeom prst="rect">
                <a:avLst/>
              </a:prstGeom>
            </p:spPr>
            <p:txBody>
              <a:bodyPr lIns="50800" tIns="50800" rIns="50800" bIns="50800" rtlCol="0" anchor="ctr"/>
              <a:lstStyle/>
              <a:p>
                <a:pPr algn="ctr">
                  <a:lnSpc>
                    <a:spcPts val="3499"/>
                  </a:lnSpc>
                </a:pPr>
                <a:endParaRPr/>
              </a:p>
            </p:txBody>
          </p:sp>
        </p:grpSp>
        <p:grpSp>
          <p:nvGrpSpPr>
            <p:cNvPr id="20" name="Group 11"/>
            <p:cNvGrpSpPr/>
            <p:nvPr/>
          </p:nvGrpSpPr>
          <p:grpSpPr>
            <a:xfrm rot="-2079538">
              <a:off x="2451530" y="6863785"/>
              <a:ext cx="2316982" cy="1991157"/>
              <a:chOff x="0" y="0"/>
              <a:chExt cx="812800" cy="698500"/>
            </a:xfrm>
          </p:grpSpPr>
          <p:sp>
            <p:nvSpPr>
              <p:cNvPr id="40" name="Freeform 1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41" name="TextBox 13"/>
              <p:cNvSpPr txBox="1"/>
              <p:nvPr/>
            </p:nvSpPr>
            <p:spPr>
              <a:xfrm>
                <a:off x="114300" y="-47625"/>
                <a:ext cx="584200" cy="746125"/>
              </a:xfrm>
              <a:prstGeom prst="rect">
                <a:avLst/>
              </a:prstGeom>
            </p:spPr>
            <p:txBody>
              <a:bodyPr lIns="50800" tIns="50800" rIns="50800" bIns="50800" rtlCol="0" anchor="ctr"/>
              <a:lstStyle/>
              <a:p>
                <a:pPr algn="ctr">
                  <a:lnSpc>
                    <a:spcPts val="3499"/>
                  </a:lnSpc>
                </a:pPr>
                <a:endParaRPr/>
              </a:p>
            </p:txBody>
          </p:sp>
        </p:grpSp>
        <p:grpSp>
          <p:nvGrpSpPr>
            <p:cNvPr id="21" name="Group 14"/>
            <p:cNvGrpSpPr/>
            <p:nvPr/>
          </p:nvGrpSpPr>
          <p:grpSpPr>
            <a:xfrm rot="-5029364">
              <a:off x="5384287" y="6934764"/>
              <a:ext cx="2328481" cy="2001038"/>
              <a:chOff x="0" y="0"/>
              <a:chExt cx="812800" cy="698500"/>
            </a:xfrm>
          </p:grpSpPr>
          <p:sp>
            <p:nvSpPr>
              <p:cNvPr id="38" name="Freeform 1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9" name="TextBox 16"/>
              <p:cNvSpPr txBox="1"/>
              <p:nvPr/>
            </p:nvSpPr>
            <p:spPr>
              <a:xfrm>
                <a:off x="114300" y="-47625"/>
                <a:ext cx="584200" cy="746125"/>
              </a:xfrm>
              <a:prstGeom prst="rect">
                <a:avLst/>
              </a:prstGeom>
            </p:spPr>
            <p:txBody>
              <a:bodyPr lIns="50800" tIns="50800" rIns="50800" bIns="50800" rtlCol="0" anchor="ctr"/>
              <a:lstStyle/>
              <a:p>
                <a:pPr algn="ctr">
                  <a:lnSpc>
                    <a:spcPts val="3499"/>
                  </a:lnSpc>
                </a:pPr>
                <a:endParaRPr/>
              </a:p>
            </p:txBody>
          </p:sp>
        </p:grpSp>
        <p:grpSp>
          <p:nvGrpSpPr>
            <p:cNvPr id="22" name="Group 17"/>
            <p:cNvGrpSpPr/>
            <p:nvPr/>
          </p:nvGrpSpPr>
          <p:grpSpPr>
            <a:xfrm rot="-4547956">
              <a:off x="7230975" y="4708563"/>
              <a:ext cx="2237333" cy="1922708"/>
              <a:chOff x="0" y="0"/>
              <a:chExt cx="812800" cy="698500"/>
            </a:xfrm>
          </p:grpSpPr>
          <p:sp>
            <p:nvSpPr>
              <p:cNvPr id="36"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7" name="TextBox 19"/>
              <p:cNvSpPr txBox="1"/>
              <p:nvPr/>
            </p:nvSpPr>
            <p:spPr>
              <a:xfrm>
                <a:off x="114300" y="-47625"/>
                <a:ext cx="584200" cy="746125"/>
              </a:xfrm>
              <a:prstGeom prst="rect">
                <a:avLst/>
              </a:prstGeom>
            </p:spPr>
            <p:txBody>
              <a:bodyPr lIns="50800" tIns="50800" rIns="50800" bIns="50800" rtlCol="0" anchor="ctr"/>
              <a:lstStyle/>
              <a:p>
                <a:pPr algn="ctr">
                  <a:lnSpc>
                    <a:spcPts val="3499"/>
                  </a:lnSpc>
                </a:pPr>
                <a:endParaRPr/>
              </a:p>
            </p:txBody>
          </p:sp>
        </p:grpSp>
        <p:grpSp>
          <p:nvGrpSpPr>
            <p:cNvPr id="23" name="Group 20"/>
            <p:cNvGrpSpPr/>
            <p:nvPr/>
          </p:nvGrpSpPr>
          <p:grpSpPr>
            <a:xfrm rot="-4170171">
              <a:off x="6592292" y="1870412"/>
              <a:ext cx="2210193" cy="1899384"/>
              <a:chOff x="0" y="0"/>
              <a:chExt cx="812800" cy="698500"/>
            </a:xfrm>
          </p:grpSpPr>
          <p:sp>
            <p:nvSpPr>
              <p:cNvPr id="34" name="Freeform 2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5" name="TextBox 22"/>
              <p:cNvSpPr txBox="1"/>
              <p:nvPr/>
            </p:nvSpPr>
            <p:spPr>
              <a:xfrm>
                <a:off x="114300" y="-47625"/>
                <a:ext cx="584200" cy="746125"/>
              </a:xfrm>
              <a:prstGeom prst="rect">
                <a:avLst/>
              </a:prstGeom>
            </p:spPr>
            <p:txBody>
              <a:bodyPr lIns="50800" tIns="50800" rIns="50800" bIns="50800" rtlCol="0" anchor="ctr"/>
              <a:lstStyle/>
              <a:p>
                <a:pPr algn="ctr">
                  <a:lnSpc>
                    <a:spcPts val="3499"/>
                  </a:lnSpc>
                </a:pPr>
                <a:endParaRPr/>
              </a:p>
            </p:txBody>
          </p:sp>
        </p:grpSp>
        <p:grpSp>
          <p:nvGrpSpPr>
            <p:cNvPr id="24" name="Group 23"/>
            <p:cNvGrpSpPr/>
            <p:nvPr/>
          </p:nvGrpSpPr>
          <p:grpSpPr>
            <a:xfrm rot="-7172835">
              <a:off x="3960095" y="643158"/>
              <a:ext cx="2209365" cy="1898673"/>
              <a:chOff x="0" y="0"/>
              <a:chExt cx="812800" cy="698500"/>
            </a:xfrm>
          </p:grpSpPr>
          <p:sp>
            <p:nvSpPr>
              <p:cNvPr id="32" name="Freeform 2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p:spPr>
          </p:sp>
          <p:sp>
            <p:nvSpPr>
              <p:cNvPr id="33" name="TextBox 25"/>
              <p:cNvSpPr txBox="1"/>
              <p:nvPr/>
            </p:nvSpPr>
            <p:spPr>
              <a:xfrm>
                <a:off x="114300" y="-47625"/>
                <a:ext cx="584200" cy="746125"/>
              </a:xfrm>
              <a:prstGeom prst="rect">
                <a:avLst/>
              </a:prstGeom>
            </p:spPr>
            <p:txBody>
              <a:bodyPr lIns="50800" tIns="50800" rIns="50800" bIns="50800" rtlCol="0" anchor="ctr"/>
              <a:lstStyle/>
              <a:p>
                <a:pPr algn="ctr">
                  <a:lnSpc>
                    <a:spcPts val="3499"/>
                  </a:lnSpc>
                </a:pPr>
                <a:endParaRPr/>
              </a:p>
            </p:txBody>
          </p:sp>
        </p:grpSp>
        <p:sp>
          <p:nvSpPr>
            <p:cNvPr id="25" name="TextBox 26"/>
            <p:cNvSpPr txBox="1"/>
            <p:nvPr/>
          </p:nvSpPr>
          <p:spPr>
            <a:xfrm>
              <a:off x="987060" y="5071530"/>
              <a:ext cx="1755758" cy="1408748"/>
            </a:xfrm>
            <a:prstGeom prst="rect">
              <a:avLst/>
            </a:prstGeom>
          </p:spPr>
          <p:txBody>
            <a:bodyPr lIns="0" tIns="0" rIns="0" bIns="0" rtlCol="0" anchor="t">
              <a:spAutoFit/>
            </a:bodyPr>
            <a:lstStyle/>
            <a:p>
              <a:pPr algn="ctr">
                <a:lnSpc>
                  <a:spcPts val="2879"/>
                </a:lnSpc>
                <a:spcBef>
                  <a:spcPct val="0"/>
                </a:spcBef>
              </a:pPr>
              <a:r>
                <a:rPr lang="en-US" sz="2056">
                  <a:solidFill>
                    <a:srgbClr val="000000"/>
                  </a:solidFill>
                  <a:latin typeface="Inter"/>
                  <a:ea typeface="Inter"/>
                  <a:cs typeface="Inter"/>
                  <a:sym typeface="Inter"/>
                </a:rPr>
                <a:t>Hỗ trợ </a:t>
              </a:r>
            </a:p>
            <a:p>
              <a:pPr algn="ctr">
                <a:lnSpc>
                  <a:spcPts val="2879"/>
                </a:lnSpc>
                <a:spcBef>
                  <a:spcPct val="0"/>
                </a:spcBef>
              </a:pPr>
              <a:r>
                <a:rPr lang="en-US" sz="2056">
                  <a:solidFill>
                    <a:srgbClr val="000000"/>
                  </a:solidFill>
                  <a:latin typeface="Inter"/>
                  <a:ea typeface="Inter"/>
                  <a:cs typeface="Inter"/>
                  <a:sym typeface="Inter"/>
                </a:rPr>
                <a:t>cộng đồng</a:t>
              </a:r>
            </a:p>
            <a:p>
              <a:pPr algn="ctr">
                <a:lnSpc>
                  <a:spcPts val="2879"/>
                </a:lnSpc>
                <a:spcBef>
                  <a:spcPct val="0"/>
                </a:spcBef>
              </a:pPr>
              <a:r>
                <a:rPr lang="en-US" sz="2056">
                  <a:solidFill>
                    <a:srgbClr val="000000"/>
                  </a:solidFill>
                  <a:latin typeface="Inter"/>
                  <a:ea typeface="Inter"/>
                  <a:cs typeface="Inter"/>
                  <a:sym typeface="Inter"/>
                </a:rPr>
                <a:t> tốt</a:t>
              </a:r>
            </a:p>
          </p:txBody>
        </p:sp>
        <p:sp>
          <p:nvSpPr>
            <p:cNvPr id="26" name="TextBox 27"/>
            <p:cNvSpPr txBox="1"/>
            <p:nvPr/>
          </p:nvSpPr>
          <p:spPr>
            <a:xfrm>
              <a:off x="7519265" y="5283547"/>
              <a:ext cx="1740757" cy="931379"/>
            </a:xfrm>
            <a:prstGeom prst="rect">
              <a:avLst/>
            </a:prstGeom>
          </p:spPr>
          <p:txBody>
            <a:bodyPr lIns="0" tIns="0" rIns="0" bIns="0" rtlCol="0" anchor="t">
              <a:spAutoFit/>
            </a:bodyPr>
            <a:lstStyle/>
            <a:p>
              <a:pPr algn="ctr">
                <a:lnSpc>
                  <a:spcPts val="2865"/>
                </a:lnSpc>
                <a:spcBef>
                  <a:spcPct val="0"/>
                </a:spcBef>
              </a:pPr>
              <a:r>
                <a:rPr lang="en-US" sz="2046">
                  <a:solidFill>
                    <a:srgbClr val="000000"/>
                  </a:solidFill>
                  <a:latin typeface="Inter"/>
                  <a:ea typeface="Inter"/>
                  <a:cs typeface="Inter"/>
                  <a:sym typeface="Inter"/>
                </a:rPr>
                <a:t>Thân thiện</a:t>
              </a:r>
            </a:p>
            <a:p>
              <a:pPr algn="ctr">
                <a:lnSpc>
                  <a:spcPts val="2865"/>
                </a:lnSpc>
                <a:spcBef>
                  <a:spcPct val="0"/>
                </a:spcBef>
              </a:pPr>
              <a:r>
                <a:rPr lang="en-US" sz="2046">
                  <a:solidFill>
                    <a:srgbClr val="000000"/>
                  </a:solidFill>
                  <a:latin typeface="Inter"/>
                  <a:ea typeface="Inter"/>
                  <a:cs typeface="Inter"/>
                  <a:sym typeface="Inter"/>
                </a:rPr>
                <a:t> với SEO</a:t>
              </a:r>
            </a:p>
          </p:txBody>
        </p:sp>
        <p:sp>
          <p:nvSpPr>
            <p:cNvPr id="27" name="TextBox 28"/>
            <p:cNvSpPr txBox="1"/>
            <p:nvPr/>
          </p:nvSpPr>
          <p:spPr>
            <a:xfrm>
              <a:off x="7039828" y="2568251"/>
              <a:ext cx="1237729" cy="494267"/>
            </a:xfrm>
            <a:prstGeom prst="rect">
              <a:avLst/>
            </a:prstGeom>
          </p:spPr>
          <p:txBody>
            <a:bodyPr lIns="0" tIns="0" rIns="0" bIns="0" rtlCol="0" anchor="t">
              <a:spAutoFit/>
            </a:bodyPr>
            <a:lstStyle/>
            <a:p>
              <a:pPr algn="ctr">
                <a:lnSpc>
                  <a:spcPts val="3129"/>
                </a:lnSpc>
                <a:spcBef>
                  <a:spcPct val="0"/>
                </a:spcBef>
              </a:pPr>
              <a:r>
                <a:rPr lang="en-US" sz="2235">
                  <a:solidFill>
                    <a:srgbClr val="000000"/>
                  </a:solidFill>
                  <a:latin typeface="Inter"/>
                  <a:ea typeface="Inter"/>
                  <a:cs typeface="Inter"/>
                  <a:sym typeface="Inter"/>
                </a:rPr>
                <a:t> UX tốt</a:t>
              </a:r>
            </a:p>
          </p:txBody>
        </p:sp>
        <p:sp>
          <p:nvSpPr>
            <p:cNvPr id="28" name="TextBox 29"/>
            <p:cNvSpPr txBox="1"/>
            <p:nvPr/>
          </p:nvSpPr>
          <p:spPr>
            <a:xfrm>
              <a:off x="4448184" y="882801"/>
              <a:ext cx="1233187" cy="1473852"/>
            </a:xfrm>
            <a:prstGeom prst="rect">
              <a:avLst/>
            </a:prstGeom>
          </p:spPr>
          <p:txBody>
            <a:bodyPr lIns="0" tIns="0" rIns="0" bIns="0" rtlCol="0" anchor="t">
              <a:spAutoFit/>
            </a:bodyPr>
            <a:lstStyle/>
            <a:p>
              <a:pPr algn="ctr">
                <a:lnSpc>
                  <a:spcPts val="3004"/>
                </a:lnSpc>
              </a:pPr>
              <a:r>
                <a:rPr lang="en-US" sz="2145">
                  <a:solidFill>
                    <a:srgbClr val="000000"/>
                  </a:solidFill>
                  <a:latin typeface="Inter"/>
                  <a:ea typeface="Inter"/>
                  <a:cs typeface="Inter"/>
                  <a:sym typeface="Inter"/>
                </a:rPr>
                <a:t>Render</a:t>
              </a:r>
            </a:p>
            <a:p>
              <a:pPr algn="ctr">
                <a:lnSpc>
                  <a:spcPts val="3004"/>
                </a:lnSpc>
              </a:pPr>
              <a:r>
                <a:rPr lang="en-US" sz="2145">
                  <a:solidFill>
                    <a:srgbClr val="000000"/>
                  </a:solidFill>
                  <a:latin typeface="Inter"/>
                  <a:ea typeface="Inter"/>
                  <a:cs typeface="Inter"/>
                  <a:sym typeface="Inter"/>
                </a:rPr>
                <a:t>nhanh</a:t>
              </a:r>
            </a:p>
            <a:p>
              <a:pPr algn="ctr">
                <a:lnSpc>
                  <a:spcPts val="3004"/>
                </a:lnSpc>
                <a:spcBef>
                  <a:spcPct val="0"/>
                </a:spcBef>
              </a:pPr>
              <a:r>
                <a:rPr lang="en-US" sz="2145">
                  <a:solidFill>
                    <a:srgbClr val="000000"/>
                  </a:solidFill>
                  <a:latin typeface="Inter"/>
                  <a:ea typeface="Inter"/>
                  <a:cs typeface="Inter"/>
                  <a:sym typeface="Inter"/>
                </a:rPr>
                <a:t>hơn</a:t>
              </a:r>
            </a:p>
          </p:txBody>
        </p:sp>
        <p:sp>
          <p:nvSpPr>
            <p:cNvPr id="29" name="TextBox 30"/>
            <p:cNvSpPr txBox="1"/>
            <p:nvPr/>
          </p:nvSpPr>
          <p:spPr>
            <a:xfrm>
              <a:off x="1864939" y="2386111"/>
              <a:ext cx="1207297" cy="974219"/>
            </a:xfrm>
            <a:prstGeom prst="rect">
              <a:avLst/>
            </a:prstGeom>
          </p:spPr>
          <p:txBody>
            <a:bodyPr lIns="0" tIns="0" rIns="0" bIns="0" rtlCol="0" anchor="t">
              <a:spAutoFit/>
            </a:bodyPr>
            <a:lstStyle/>
            <a:p>
              <a:pPr algn="ctr">
                <a:lnSpc>
                  <a:spcPts val="3004"/>
                </a:lnSpc>
              </a:pPr>
              <a:r>
                <a:rPr lang="en-US" sz="2145">
                  <a:solidFill>
                    <a:srgbClr val="000000"/>
                  </a:solidFill>
                  <a:latin typeface="Inter"/>
                  <a:ea typeface="Inter"/>
                  <a:cs typeface="Inter"/>
                  <a:sym typeface="Inter"/>
                </a:rPr>
                <a:t>Dễ viết</a:t>
              </a:r>
            </a:p>
            <a:p>
              <a:pPr algn="ctr">
                <a:lnSpc>
                  <a:spcPts val="3004"/>
                </a:lnSpc>
                <a:spcBef>
                  <a:spcPct val="0"/>
                </a:spcBef>
              </a:pPr>
              <a:r>
                <a:rPr lang="en-US" sz="2145">
                  <a:solidFill>
                    <a:srgbClr val="000000"/>
                  </a:solidFill>
                  <a:latin typeface="Inter"/>
                  <a:ea typeface="Inter"/>
                  <a:cs typeface="Inter"/>
                  <a:sym typeface="Inter"/>
                </a:rPr>
                <a:t>mã</a:t>
              </a:r>
            </a:p>
          </p:txBody>
        </p:sp>
        <p:sp>
          <p:nvSpPr>
            <p:cNvPr id="30" name="TextBox 31"/>
            <p:cNvSpPr txBox="1"/>
            <p:nvPr/>
          </p:nvSpPr>
          <p:spPr>
            <a:xfrm>
              <a:off x="2948234" y="7192876"/>
              <a:ext cx="1405674" cy="1408748"/>
            </a:xfrm>
            <a:prstGeom prst="rect">
              <a:avLst/>
            </a:prstGeom>
          </p:spPr>
          <p:txBody>
            <a:bodyPr lIns="0" tIns="0" rIns="0" bIns="0" rtlCol="0" anchor="t">
              <a:spAutoFit/>
            </a:bodyPr>
            <a:lstStyle/>
            <a:p>
              <a:pPr algn="ctr">
                <a:lnSpc>
                  <a:spcPts val="2879"/>
                </a:lnSpc>
              </a:pPr>
              <a:r>
                <a:rPr lang="en-US" sz="2056">
                  <a:solidFill>
                    <a:srgbClr val="000000"/>
                  </a:solidFill>
                  <a:latin typeface="Inter"/>
                  <a:ea typeface="Inter"/>
                  <a:cs typeface="Inter"/>
                  <a:sym typeface="Inter"/>
                </a:rPr>
                <a:t>Tối ưu</a:t>
              </a:r>
            </a:p>
            <a:p>
              <a:pPr algn="ctr">
                <a:lnSpc>
                  <a:spcPts val="2879"/>
                </a:lnSpc>
              </a:pPr>
              <a:r>
                <a:rPr lang="en-US" sz="2056">
                  <a:solidFill>
                    <a:srgbClr val="000000"/>
                  </a:solidFill>
                  <a:latin typeface="Inter"/>
                  <a:ea typeface="Inter"/>
                  <a:cs typeface="Inter"/>
                  <a:sym typeface="Inter"/>
                </a:rPr>
                <a:t>hoá hình</a:t>
              </a:r>
            </a:p>
            <a:p>
              <a:pPr algn="ctr">
                <a:lnSpc>
                  <a:spcPts val="2879"/>
                </a:lnSpc>
                <a:spcBef>
                  <a:spcPct val="0"/>
                </a:spcBef>
              </a:pPr>
              <a:r>
                <a:rPr lang="en-US" sz="2056">
                  <a:solidFill>
                    <a:srgbClr val="000000"/>
                  </a:solidFill>
                  <a:latin typeface="Inter"/>
                  <a:ea typeface="Inter"/>
                  <a:cs typeface="Inter"/>
                  <a:sym typeface="Inter"/>
                </a:rPr>
                <a:t>ảnh</a:t>
              </a:r>
            </a:p>
          </p:txBody>
        </p:sp>
        <p:sp>
          <p:nvSpPr>
            <p:cNvPr id="31" name="TextBox 32"/>
            <p:cNvSpPr txBox="1"/>
            <p:nvPr/>
          </p:nvSpPr>
          <p:spPr>
            <a:xfrm>
              <a:off x="5614554" y="7149426"/>
              <a:ext cx="1947663" cy="1408748"/>
            </a:xfrm>
            <a:prstGeom prst="rect">
              <a:avLst/>
            </a:prstGeom>
          </p:spPr>
          <p:txBody>
            <a:bodyPr lIns="0" tIns="0" rIns="0" bIns="0" rtlCol="0" anchor="t">
              <a:spAutoFit/>
            </a:bodyPr>
            <a:lstStyle/>
            <a:p>
              <a:pPr algn="ctr">
                <a:lnSpc>
                  <a:spcPts val="2879"/>
                </a:lnSpc>
              </a:pPr>
              <a:r>
                <a:rPr lang="en-US" sz="2056">
                  <a:solidFill>
                    <a:srgbClr val="000000"/>
                  </a:solidFill>
                  <a:latin typeface="Inter"/>
                  <a:ea typeface="Inter"/>
                  <a:cs typeface="Inter"/>
                  <a:sym typeface="Inter"/>
                </a:rPr>
                <a:t>Xây </a:t>
              </a:r>
            </a:p>
            <a:p>
              <a:pPr algn="ctr">
                <a:lnSpc>
                  <a:spcPts val="2879"/>
                </a:lnSpc>
              </a:pPr>
              <a:r>
                <a:rPr lang="en-US" sz="2056">
                  <a:solidFill>
                    <a:srgbClr val="000000"/>
                  </a:solidFill>
                  <a:latin typeface="Inter"/>
                  <a:ea typeface="Inter"/>
                  <a:cs typeface="Inter"/>
                  <a:sym typeface="Inter"/>
                </a:rPr>
                <a:t>dựng ứng </a:t>
              </a:r>
            </a:p>
            <a:p>
              <a:pPr algn="ctr">
                <a:lnSpc>
                  <a:spcPts val="2879"/>
                </a:lnSpc>
                <a:spcBef>
                  <a:spcPct val="0"/>
                </a:spcBef>
              </a:pPr>
              <a:r>
                <a:rPr lang="en-US" sz="2056">
                  <a:solidFill>
                    <a:srgbClr val="000000"/>
                  </a:solidFill>
                  <a:latin typeface="Inter"/>
                  <a:ea typeface="Inter"/>
                  <a:cs typeface="Inter"/>
                  <a:sym typeface="Inter"/>
                </a:rPr>
                <a:t>dụng nhanh</a:t>
              </a:r>
            </a:p>
          </p:txBody>
        </p:sp>
      </p:grpSp>
      <p:sp>
        <p:nvSpPr>
          <p:cNvPr id="46" name="TextBox 33"/>
          <p:cNvSpPr txBox="1"/>
          <p:nvPr/>
        </p:nvSpPr>
        <p:spPr>
          <a:xfrm>
            <a:off x="763112" y="5390759"/>
            <a:ext cx="7774662" cy="986155"/>
          </a:xfrm>
          <a:prstGeom prst="rect">
            <a:avLst/>
          </a:prstGeom>
        </p:spPr>
        <p:txBody>
          <a:bodyPr lIns="0" tIns="0" rIns="0" bIns="0" rtlCol="0" anchor="t">
            <a:spAutoFit/>
          </a:bodyPr>
          <a:lstStyle/>
          <a:p>
            <a:pPr marL="0" lvl="0" indent="0" algn="just">
              <a:lnSpc>
                <a:spcPts val="3919"/>
              </a:lnSpc>
              <a:spcBef>
                <a:spcPct val="0"/>
              </a:spcBef>
            </a:pPr>
            <a:r>
              <a:rPr lang="en-US" sz="2799" u="none" strike="noStrike">
                <a:solidFill>
                  <a:srgbClr val="000000"/>
                </a:solidFill>
                <a:latin typeface="Inter"/>
                <a:ea typeface="Inter"/>
                <a:cs typeface="Inter"/>
                <a:sym typeface="Inter"/>
              </a:rPr>
              <a:t>Đây là lựa chọn phổ biến cho các dự án cần hiệu năng cao và trải nghiệm người dùng tốt.</a:t>
            </a:r>
          </a:p>
        </p:txBody>
      </p:sp>
    </p:spTree>
    <p:extLst>
      <p:ext uri="{BB962C8B-B14F-4D97-AF65-F5344CB8AC3E}">
        <p14:creationId xmlns:p14="http://schemas.microsoft.com/office/powerpoint/2010/main" val="1044905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2</a:t>
            </a:r>
            <a:r>
              <a:rPr lang="en-US" sz="2600" i="1" spc="72" smtClean="0">
                <a:solidFill>
                  <a:srgbClr val="6E309C"/>
                </a:solidFill>
                <a:latin typeface="Arimo Italics"/>
                <a:ea typeface="Arimo Italics"/>
                <a:cs typeface="Arimo Italics"/>
                <a:sym typeface="Arimo Italics"/>
              </a:rPr>
              <a:t>. </a:t>
            </a:r>
            <a:r>
              <a:rPr lang="vi-VN" sz="2600" i="1" spc="72" smtClean="0">
                <a:solidFill>
                  <a:srgbClr val="6E309C"/>
                </a:solidFill>
                <a:latin typeface="Arimo Italics"/>
                <a:ea typeface="Arimo Italics"/>
                <a:cs typeface="Arimo Italics"/>
                <a:sym typeface="Arimo Italics"/>
              </a:rPr>
              <a:t>Cơ</a:t>
            </a:r>
            <a:r>
              <a:rPr lang="en-US" sz="2600" i="1" spc="72" smtClean="0">
                <a:solidFill>
                  <a:srgbClr val="6E309C"/>
                </a:solidFill>
                <a:latin typeface="Arimo Italics"/>
                <a:ea typeface="Arimo Italics"/>
                <a:cs typeface="Arimo Italics"/>
                <a:sym typeface="Arimo Italics"/>
              </a:rPr>
              <a:t> sở lý thuyết</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Express.js</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7</a:t>
            </a:r>
            <a:endParaRPr lang="en-US" sz="2600" b="1" spc="72">
              <a:solidFill>
                <a:srgbClr val="6E309C"/>
              </a:solidFill>
              <a:latin typeface="Arimo Bold"/>
              <a:ea typeface="Arimo Bold"/>
              <a:cs typeface="Arimo Bold"/>
              <a:sym typeface="Arimo Bold"/>
            </a:endParaRPr>
          </a:p>
        </p:txBody>
      </p:sp>
      <p:sp>
        <p:nvSpPr>
          <p:cNvPr id="15" name="TextBox 2"/>
          <p:cNvSpPr txBox="1"/>
          <p:nvPr/>
        </p:nvSpPr>
        <p:spPr>
          <a:xfrm>
            <a:off x="763112" y="3731758"/>
            <a:ext cx="4829642" cy="2957541"/>
          </a:xfrm>
          <a:prstGeom prst="rect">
            <a:avLst/>
          </a:prstGeom>
        </p:spPr>
        <p:txBody>
          <a:bodyPr wrap="square" lIns="0" tIns="0" rIns="0" bIns="0" rtlCol="0" anchor="t">
            <a:spAutoFit/>
          </a:bodyPr>
          <a:lstStyle/>
          <a:p>
            <a:pPr lvl="0" algn="just">
              <a:lnSpc>
                <a:spcPts val="3919"/>
              </a:lnSpc>
              <a:spcBef>
                <a:spcPct val="0"/>
              </a:spcBef>
            </a:pPr>
            <a:r>
              <a:rPr lang="vi-VN" sz="2799" b="1">
                <a:solidFill>
                  <a:srgbClr val="000000"/>
                </a:solidFill>
                <a:latin typeface="Inter Bold"/>
                <a:ea typeface="Inter Bold"/>
                <a:cs typeface="Inter Bold"/>
                <a:sym typeface="Inter Bold"/>
              </a:rPr>
              <a:t>Express.js </a:t>
            </a:r>
            <a:r>
              <a:rPr lang="vi-VN" sz="2799">
                <a:solidFill>
                  <a:srgbClr val="000000"/>
                </a:solidFill>
                <a:latin typeface="Inter Bold"/>
                <a:ea typeface="Inter Bold"/>
                <a:cs typeface="Inter Bold"/>
                <a:sym typeface="Inter Bold"/>
              </a:rPr>
              <a:t>là một framework web mã nguồn mở chạy trên nền Node.js, được sử dụng để xây dựng các ứng dụng web và RESTful API một cách nhanh chóng và linh hoạt.</a:t>
            </a:r>
            <a:endParaRPr lang="en-US" sz="2799" u="none" strike="noStrike">
              <a:solidFill>
                <a:srgbClr val="000000"/>
              </a:solidFill>
              <a:latin typeface="Inter"/>
              <a:ea typeface="Inter"/>
              <a:cs typeface="Inter"/>
              <a:sym typeface="Inter"/>
            </a:endParaRPr>
          </a:p>
        </p:txBody>
      </p:sp>
      <p:pic>
        <p:nvPicPr>
          <p:cNvPr id="1026" name="Picture 2" descr="Express JS Icon SVG Vector &amp; PNG Free Download | UXW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170" y="1762642"/>
            <a:ext cx="1768313" cy="1768313"/>
          </a:xfrm>
          <a:prstGeom prst="rect">
            <a:avLst/>
          </a:prstGeom>
          <a:noFill/>
          <a:extLst>
            <a:ext uri="{909E8E84-426E-40DD-AFC4-6F175D3DCCD1}">
              <a14:hiddenFill xmlns:a14="http://schemas.microsoft.com/office/drawing/2010/main">
                <a:solidFill>
                  <a:srgbClr val="FFFFFF"/>
                </a:solidFill>
              </a14:hiddenFill>
            </a:ext>
          </a:extLst>
        </p:spPr>
      </p:pic>
      <p:grpSp>
        <p:nvGrpSpPr>
          <p:cNvPr id="47" name="Group 2"/>
          <p:cNvGrpSpPr/>
          <p:nvPr/>
        </p:nvGrpSpPr>
        <p:grpSpPr>
          <a:xfrm>
            <a:off x="6168512" y="1844719"/>
            <a:ext cx="11969069" cy="6136239"/>
            <a:chOff x="0" y="0"/>
            <a:chExt cx="15958758" cy="8181652"/>
          </a:xfrm>
        </p:grpSpPr>
        <p:sp>
          <p:nvSpPr>
            <p:cNvPr id="48" name="Freeform 3"/>
            <p:cNvSpPr/>
            <p:nvPr/>
          </p:nvSpPr>
          <p:spPr>
            <a:xfrm>
              <a:off x="0" y="0"/>
              <a:ext cx="15958758" cy="8181652"/>
            </a:xfrm>
            <a:custGeom>
              <a:avLst/>
              <a:gdLst/>
              <a:ahLst/>
              <a:cxnLst/>
              <a:rect l="l" t="t" r="r" b="b"/>
              <a:pathLst>
                <a:path w="15958758" h="8181652">
                  <a:moveTo>
                    <a:pt x="0" y="0"/>
                  </a:moveTo>
                  <a:lnTo>
                    <a:pt x="15958758" y="0"/>
                  </a:lnTo>
                  <a:lnTo>
                    <a:pt x="15958758" y="8181652"/>
                  </a:lnTo>
                  <a:lnTo>
                    <a:pt x="0" y="8181652"/>
                  </a:lnTo>
                  <a:lnTo>
                    <a:pt x="0" y="0"/>
                  </a:lnTo>
                  <a:close/>
                </a:path>
              </a:pathLst>
            </a:custGeom>
            <a:blipFill>
              <a:blip r:embed="rId3"/>
              <a:stretch>
                <a:fillRect l="-793" t="-13528" b="-19178"/>
              </a:stretch>
            </a:blipFill>
          </p:spPr>
        </p:sp>
        <p:grpSp>
          <p:nvGrpSpPr>
            <p:cNvPr id="49" name="Group 4"/>
            <p:cNvGrpSpPr/>
            <p:nvPr/>
          </p:nvGrpSpPr>
          <p:grpSpPr>
            <a:xfrm>
              <a:off x="2192245" y="1319908"/>
              <a:ext cx="5270471" cy="822456"/>
              <a:chOff x="0" y="0"/>
              <a:chExt cx="1208036" cy="188514"/>
            </a:xfrm>
          </p:grpSpPr>
          <p:sp>
            <p:nvSpPr>
              <p:cNvPr id="71" name="Freeform 5"/>
              <p:cNvSpPr/>
              <p:nvPr/>
            </p:nvSpPr>
            <p:spPr>
              <a:xfrm>
                <a:off x="0" y="0"/>
                <a:ext cx="1208036" cy="188514"/>
              </a:xfrm>
              <a:custGeom>
                <a:avLst/>
                <a:gdLst/>
                <a:ahLst/>
                <a:cxnLst/>
                <a:rect l="l" t="t" r="r" b="b"/>
                <a:pathLst>
                  <a:path w="1208036" h="188514">
                    <a:moveTo>
                      <a:pt x="0" y="0"/>
                    </a:moveTo>
                    <a:lnTo>
                      <a:pt x="1208036" y="0"/>
                    </a:lnTo>
                    <a:lnTo>
                      <a:pt x="1208036" y="188514"/>
                    </a:lnTo>
                    <a:lnTo>
                      <a:pt x="0" y="188514"/>
                    </a:lnTo>
                    <a:close/>
                  </a:path>
                </a:pathLst>
              </a:custGeom>
              <a:solidFill>
                <a:srgbClr val="D6E1FF"/>
              </a:solidFill>
            </p:spPr>
          </p:sp>
          <p:sp>
            <p:nvSpPr>
              <p:cNvPr id="72" name="TextBox 6"/>
              <p:cNvSpPr txBox="1"/>
              <p:nvPr/>
            </p:nvSpPr>
            <p:spPr>
              <a:xfrm>
                <a:off x="0" y="-47625"/>
                <a:ext cx="1208036" cy="236139"/>
              </a:xfrm>
              <a:prstGeom prst="rect">
                <a:avLst/>
              </a:prstGeom>
            </p:spPr>
            <p:txBody>
              <a:bodyPr lIns="50800" tIns="50800" rIns="50800" bIns="50800" rtlCol="0" anchor="ctr"/>
              <a:lstStyle/>
              <a:p>
                <a:pPr algn="ctr">
                  <a:lnSpc>
                    <a:spcPts val="3499"/>
                  </a:lnSpc>
                </a:pPr>
                <a:endParaRPr/>
              </a:p>
            </p:txBody>
          </p:sp>
        </p:grpSp>
        <p:sp>
          <p:nvSpPr>
            <p:cNvPr id="50" name="TextBox 7"/>
            <p:cNvSpPr txBox="1"/>
            <p:nvPr/>
          </p:nvSpPr>
          <p:spPr>
            <a:xfrm>
              <a:off x="2604423" y="1468263"/>
              <a:ext cx="4187757" cy="478121"/>
            </a:xfrm>
            <a:prstGeom prst="rect">
              <a:avLst/>
            </a:prstGeom>
          </p:spPr>
          <p:txBody>
            <a:bodyPr lIns="0" tIns="0" rIns="0" bIns="0" rtlCol="0" anchor="t">
              <a:spAutoFit/>
            </a:bodyPr>
            <a:lstStyle/>
            <a:p>
              <a:pPr algn="ctr">
                <a:lnSpc>
                  <a:spcPts val="3016"/>
                </a:lnSpc>
                <a:spcBef>
                  <a:spcPct val="0"/>
                </a:spcBef>
              </a:pPr>
              <a:r>
                <a:rPr lang="en-US" sz="2154">
                  <a:solidFill>
                    <a:srgbClr val="000000"/>
                  </a:solidFill>
                  <a:latin typeface="Inter"/>
                  <a:ea typeface="Inter"/>
                  <a:cs typeface="Inter"/>
                  <a:sym typeface="Inter"/>
                </a:rPr>
                <a:t>Nhẹ và linh hoạt</a:t>
              </a:r>
            </a:p>
          </p:txBody>
        </p:sp>
        <p:grpSp>
          <p:nvGrpSpPr>
            <p:cNvPr id="51" name="Group 8"/>
            <p:cNvGrpSpPr/>
            <p:nvPr/>
          </p:nvGrpSpPr>
          <p:grpSpPr>
            <a:xfrm>
              <a:off x="2203190" y="3948257"/>
              <a:ext cx="5270471" cy="822456"/>
              <a:chOff x="0" y="0"/>
              <a:chExt cx="1208036" cy="188514"/>
            </a:xfrm>
          </p:grpSpPr>
          <p:sp>
            <p:nvSpPr>
              <p:cNvPr id="69" name="Freeform 9"/>
              <p:cNvSpPr/>
              <p:nvPr/>
            </p:nvSpPr>
            <p:spPr>
              <a:xfrm>
                <a:off x="0" y="0"/>
                <a:ext cx="1208036" cy="188514"/>
              </a:xfrm>
              <a:custGeom>
                <a:avLst/>
                <a:gdLst/>
                <a:ahLst/>
                <a:cxnLst/>
                <a:rect l="l" t="t" r="r" b="b"/>
                <a:pathLst>
                  <a:path w="1208036" h="188514">
                    <a:moveTo>
                      <a:pt x="0" y="0"/>
                    </a:moveTo>
                    <a:lnTo>
                      <a:pt x="1208036" y="0"/>
                    </a:lnTo>
                    <a:lnTo>
                      <a:pt x="1208036" y="188514"/>
                    </a:lnTo>
                    <a:lnTo>
                      <a:pt x="0" y="188514"/>
                    </a:lnTo>
                    <a:close/>
                  </a:path>
                </a:pathLst>
              </a:custGeom>
              <a:solidFill>
                <a:srgbClr val="FEE7D7"/>
              </a:solidFill>
            </p:spPr>
          </p:sp>
          <p:sp>
            <p:nvSpPr>
              <p:cNvPr id="70" name="TextBox 10"/>
              <p:cNvSpPr txBox="1"/>
              <p:nvPr/>
            </p:nvSpPr>
            <p:spPr>
              <a:xfrm>
                <a:off x="0" y="-47625"/>
                <a:ext cx="1208036" cy="236139"/>
              </a:xfrm>
              <a:prstGeom prst="rect">
                <a:avLst/>
              </a:prstGeom>
            </p:spPr>
            <p:txBody>
              <a:bodyPr lIns="50800" tIns="50800" rIns="50800" bIns="50800" rtlCol="0" anchor="ctr"/>
              <a:lstStyle/>
              <a:p>
                <a:pPr algn="ctr">
                  <a:lnSpc>
                    <a:spcPts val="3499"/>
                  </a:lnSpc>
                </a:pPr>
                <a:endParaRPr/>
              </a:p>
            </p:txBody>
          </p:sp>
        </p:grpSp>
        <p:grpSp>
          <p:nvGrpSpPr>
            <p:cNvPr id="52" name="Group 11"/>
            <p:cNvGrpSpPr/>
            <p:nvPr/>
          </p:nvGrpSpPr>
          <p:grpSpPr>
            <a:xfrm>
              <a:off x="2063066" y="6182764"/>
              <a:ext cx="5399650" cy="1030236"/>
              <a:chOff x="-29609" y="-47625"/>
              <a:chExt cx="1237645" cy="236139"/>
            </a:xfrm>
          </p:grpSpPr>
          <p:sp>
            <p:nvSpPr>
              <p:cNvPr id="67" name="Freeform 12"/>
              <p:cNvSpPr/>
              <p:nvPr/>
            </p:nvSpPr>
            <p:spPr>
              <a:xfrm>
                <a:off x="-29609" y="-5594"/>
                <a:ext cx="1208036" cy="188514"/>
              </a:xfrm>
              <a:custGeom>
                <a:avLst/>
                <a:gdLst/>
                <a:ahLst/>
                <a:cxnLst/>
                <a:rect l="l" t="t" r="r" b="b"/>
                <a:pathLst>
                  <a:path w="1208036" h="188514">
                    <a:moveTo>
                      <a:pt x="0" y="0"/>
                    </a:moveTo>
                    <a:lnTo>
                      <a:pt x="1208036" y="0"/>
                    </a:lnTo>
                    <a:lnTo>
                      <a:pt x="1208036" y="188514"/>
                    </a:lnTo>
                    <a:lnTo>
                      <a:pt x="0" y="188514"/>
                    </a:lnTo>
                    <a:close/>
                  </a:path>
                </a:pathLst>
              </a:custGeom>
              <a:solidFill>
                <a:srgbClr val="F3D8FC"/>
              </a:solidFill>
            </p:spPr>
          </p:sp>
          <p:sp>
            <p:nvSpPr>
              <p:cNvPr id="68" name="TextBox 13"/>
              <p:cNvSpPr txBox="1"/>
              <p:nvPr/>
            </p:nvSpPr>
            <p:spPr>
              <a:xfrm>
                <a:off x="0" y="-47625"/>
                <a:ext cx="1208036" cy="236139"/>
              </a:xfrm>
              <a:prstGeom prst="rect">
                <a:avLst/>
              </a:prstGeom>
            </p:spPr>
            <p:txBody>
              <a:bodyPr lIns="50800" tIns="50800" rIns="50800" bIns="50800" rtlCol="0" anchor="ctr"/>
              <a:lstStyle/>
              <a:p>
                <a:pPr algn="ctr">
                  <a:lnSpc>
                    <a:spcPts val="3499"/>
                  </a:lnSpc>
                </a:pPr>
                <a:endParaRPr/>
              </a:p>
            </p:txBody>
          </p:sp>
        </p:grpSp>
        <p:grpSp>
          <p:nvGrpSpPr>
            <p:cNvPr id="53" name="Group 14"/>
            <p:cNvGrpSpPr/>
            <p:nvPr/>
          </p:nvGrpSpPr>
          <p:grpSpPr>
            <a:xfrm>
              <a:off x="9743259" y="1319908"/>
              <a:ext cx="5270471" cy="822456"/>
              <a:chOff x="0" y="0"/>
              <a:chExt cx="1208036" cy="188514"/>
            </a:xfrm>
          </p:grpSpPr>
          <p:sp>
            <p:nvSpPr>
              <p:cNvPr id="65" name="Freeform 15"/>
              <p:cNvSpPr/>
              <p:nvPr/>
            </p:nvSpPr>
            <p:spPr>
              <a:xfrm>
                <a:off x="0" y="0"/>
                <a:ext cx="1208036" cy="188514"/>
              </a:xfrm>
              <a:custGeom>
                <a:avLst/>
                <a:gdLst/>
                <a:ahLst/>
                <a:cxnLst/>
                <a:rect l="l" t="t" r="r" b="b"/>
                <a:pathLst>
                  <a:path w="1208036" h="188514">
                    <a:moveTo>
                      <a:pt x="0" y="0"/>
                    </a:moveTo>
                    <a:lnTo>
                      <a:pt x="1208036" y="0"/>
                    </a:lnTo>
                    <a:lnTo>
                      <a:pt x="1208036" y="188514"/>
                    </a:lnTo>
                    <a:lnTo>
                      <a:pt x="0" y="188514"/>
                    </a:lnTo>
                    <a:close/>
                  </a:path>
                </a:pathLst>
              </a:custGeom>
              <a:solidFill>
                <a:srgbClr val="FCD7DE"/>
              </a:solidFill>
            </p:spPr>
          </p:sp>
          <p:sp>
            <p:nvSpPr>
              <p:cNvPr id="66" name="TextBox 16"/>
              <p:cNvSpPr txBox="1"/>
              <p:nvPr/>
            </p:nvSpPr>
            <p:spPr>
              <a:xfrm>
                <a:off x="0" y="-47625"/>
                <a:ext cx="1208036" cy="236139"/>
              </a:xfrm>
              <a:prstGeom prst="rect">
                <a:avLst/>
              </a:prstGeom>
            </p:spPr>
            <p:txBody>
              <a:bodyPr lIns="50800" tIns="50800" rIns="50800" bIns="50800" rtlCol="0" anchor="ctr"/>
              <a:lstStyle/>
              <a:p>
                <a:pPr algn="ctr">
                  <a:lnSpc>
                    <a:spcPts val="3499"/>
                  </a:lnSpc>
                </a:pPr>
                <a:endParaRPr/>
              </a:p>
            </p:txBody>
          </p:sp>
        </p:grpSp>
        <p:grpSp>
          <p:nvGrpSpPr>
            <p:cNvPr id="54" name="Group 17"/>
            <p:cNvGrpSpPr/>
            <p:nvPr/>
          </p:nvGrpSpPr>
          <p:grpSpPr>
            <a:xfrm>
              <a:off x="9743259" y="3948257"/>
              <a:ext cx="5270471" cy="822456"/>
              <a:chOff x="0" y="0"/>
              <a:chExt cx="1208036" cy="188514"/>
            </a:xfrm>
          </p:grpSpPr>
          <p:sp>
            <p:nvSpPr>
              <p:cNvPr id="63" name="Freeform 18"/>
              <p:cNvSpPr/>
              <p:nvPr/>
            </p:nvSpPr>
            <p:spPr>
              <a:xfrm>
                <a:off x="0" y="0"/>
                <a:ext cx="1208036" cy="188514"/>
              </a:xfrm>
              <a:custGeom>
                <a:avLst/>
                <a:gdLst/>
                <a:ahLst/>
                <a:cxnLst/>
                <a:rect l="l" t="t" r="r" b="b"/>
                <a:pathLst>
                  <a:path w="1208036" h="188514">
                    <a:moveTo>
                      <a:pt x="0" y="0"/>
                    </a:moveTo>
                    <a:lnTo>
                      <a:pt x="1208036" y="0"/>
                    </a:lnTo>
                    <a:lnTo>
                      <a:pt x="1208036" y="188514"/>
                    </a:lnTo>
                    <a:lnTo>
                      <a:pt x="0" y="188514"/>
                    </a:lnTo>
                    <a:close/>
                  </a:path>
                </a:pathLst>
              </a:custGeom>
              <a:solidFill>
                <a:srgbClr val="E0FBB8"/>
              </a:solidFill>
            </p:spPr>
          </p:sp>
          <p:sp>
            <p:nvSpPr>
              <p:cNvPr id="64" name="TextBox 19"/>
              <p:cNvSpPr txBox="1"/>
              <p:nvPr/>
            </p:nvSpPr>
            <p:spPr>
              <a:xfrm>
                <a:off x="0" y="-47625"/>
                <a:ext cx="1208036" cy="236139"/>
              </a:xfrm>
              <a:prstGeom prst="rect">
                <a:avLst/>
              </a:prstGeom>
            </p:spPr>
            <p:txBody>
              <a:bodyPr lIns="50800" tIns="50800" rIns="50800" bIns="50800" rtlCol="0" anchor="ctr"/>
              <a:lstStyle/>
              <a:p>
                <a:pPr algn="ctr">
                  <a:lnSpc>
                    <a:spcPts val="3499"/>
                  </a:lnSpc>
                </a:pPr>
                <a:endParaRPr/>
              </a:p>
            </p:txBody>
          </p:sp>
        </p:grpSp>
        <p:grpSp>
          <p:nvGrpSpPr>
            <p:cNvPr id="55" name="Group 20"/>
            <p:cNvGrpSpPr/>
            <p:nvPr/>
          </p:nvGrpSpPr>
          <p:grpSpPr>
            <a:xfrm>
              <a:off x="9743259" y="6390544"/>
              <a:ext cx="5270471" cy="822456"/>
              <a:chOff x="0" y="0"/>
              <a:chExt cx="1208036" cy="188514"/>
            </a:xfrm>
          </p:grpSpPr>
          <p:sp>
            <p:nvSpPr>
              <p:cNvPr id="61" name="Freeform 21"/>
              <p:cNvSpPr/>
              <p:nvPr/>
            </p:nvSpPr>
            <p:spPr>
              <a:xfrm>
                <a:off x="0" y="0"/>
                <a:ext cx="1208036" cy="188514"/>
              </a:xfrm>
              <a:custGeom>
                <a:avLst/>
                <a:gdLst/>
                <a:ahLst/>
                <a:cxnLst/>
                <a:rect l="l" t="t" r="r" b="b"/>
                <a:pathLst>
                  <a:path w="1208036" h="188514">
                    <a:moveTo>
                      <a:pt x="0" y="0"/>
                    </a:moveTo>
                    <a:lnTo>
                      <a:pt x="1208036" y="0"/>
                    </a:lnTo>
                    <a:lnTo>
                      <a:pt x="1208036" y="188514"/>
                    </a:lnTo>
                    <a:lnTo>
                      <a:pt x="0" y="188514"/>
                    </a:lnTo>
                    <a:close/>
                  </a:path>
                </a:pathLst>
              </a:custGeom>
              <a:solidFill>
                <a:srgbClr val="B7F0F6"/>
              </a:solidFill>
            </p:spPr>
          </p:sp>
          <p:sp>
            <p:nvSpPr>
              <p:cNvPr id="62" name="TextBox 22"/>
              <p:cNvSpPr txBox="1"/>
              <p:nvPr/>
            </p:nvSpPr>
            <p:spPr>
              <a:xfrm>
                <a:off x="0" y="-47625"/>
                <a:ext cx="1208036" cy="236139"/>
              </a:xfrm>
              <a:prstGeom prst="rect">
                <a:avLst/>
              </a:prstGeom>
            </p:spPr>
            <p:txBody>
              <a:bodyPr lIns="50800" tIns="50800" rIns="50800" bIns="50800" rtlCol="0" anchor="ctr"/>
              <a:lstStyle/>
              <a:p>
                <a:pPr algn="ctr">
                  <a:lnSpc>
                    <a:spcPts val="3499"/>
                  </a:lnSpc>
                </a:pPr>
                <a:endParaRPr/>
              </a:p>
            </p:txBody>
          </p:sp>
        </p:grpSp>
        <p:sp>
          <p:nvSpPr>
            <p:cNvPr id="56" name="TextBox 23"/>
            <p:cNvSpPr txBox="1"/>
            <p:nvPr/>
          </p:nvSpPr>
          <p:spPr>
            <a:xfrm>
              <a:off x="2990911" y="3844881"/>
              <a:ext cx="3414780" cy="981582"/>
            </a:xfrm>
            <a:prstGeom prst="rect">
              <a:avLst/>
            </a:prstGeom>
          </p:spPr>
          <p:txBody>
            <a:bodyPr lIns="0" tIns="0" rIns="0" bIns="0" rtlCol="0" anchor="t">
              <a:spAutoFit/>
            </a:bodyPr>
            <a:lstStyle/>
            <a:p>
              <a:pPr algn="ctr">
                <a:lnSpc>
                  <a:spcPts val="3016"/>
                </a:lnSpc>
              </a:pPr>
              <a:r>
                <a:rPr lang="en-US" sz="2154">
                  <a:solidFill>
                    <a:srgbClr val="000000"/>
                  </a:solidFill>
                  <a:latin typeface="Inter"/>
                  <a:ea typeface="Inter"/>
                  <a:cs typeface="Inter"/>
                  <a:sym typeface="Inter"/>
                </a:rPr>
                <a:t>Phát triển ứng dụng</a:t>
              </a:r>
            </a:p>
            <a:p>
              <a:pPr algn="ctr">
                <a:lnSpc>
                  <a:spcPts val="3016"/>
                </a:lnSpc>
                <a:spcBef>
                  <a:spcPct val="0"/>
                </a:spcBef>
              </a:pPr>
              <a:r>
                <a:rPr lang="en-US" sz="2154">
                  <a:solidFill>
                    <a:srgbClr val="000000"/>
                  </a:solidFill>
                  <a:latin typeface="Inter"/>
                  <a:ea typeface="Inter"/>
                  <a:cs typeface="Inter"/>
                  <a:sym typeface="Inter"/>
                </a:rPr>
                <a:t>nhanh chóng</a:t>
              </a:r>
            </a:p>
          </p:txBody>
        </p:sp>
        <p:sp>
          <p:nvSpPr>
            <p:cNvPr id="57" name="TextBox 24"/>
            <p:cNvSpPr txBox="1"/>
            <p:nvPr/>
          </p:nvSpPr>
          <p:spPr>
            <a:xfrm>
              <a:off x="10224238" y="3814393"/>
              <a:ext cx="4238273" cy="1025921"/>
            </a:xfrm>
            <a:prstGeom prst="rect">
              <a:avLst/>
            </a:prstGeom>
          </p:spPr>
          <p:txBody>
            <a:bodyPr wrap="square" lIns="0" tIns="0" rIns="0" bIns="0" rtlCol="0" anchor="t">
              <a:spAutoFit/>
            </a:bodyPr>
            <a:lstStyle/>
            <a:p>
              <a:pPr algn="ctr">
                <a:lnSpc>
                  <a:spcPts val="3016"/>
                </a:lnSpc>
                <a:spcBef>
                  <a:spcPct val="0"/>
                </a:spcBef>
              </a:pPr>
              <a:r>
                <a:rPr lang="vi-VN" sz="2154">
                  <a:solidFill>
                    <a:srgbClr val="000000"/>
                  </a:solidFill>
                  <a:latin typeface="Inter"/>
                  <a:ea typeface="Inter"/>
                  <a:cs typeface="Inter"/>
                  <a:sym typeface="Inter"/>
                </a:rPr>
                <a:t>Dễ tích hợp với cơ sở dữ liệu và thư viện khác</a:t>
              </a:r>
              <a:endParaRPr lang="en-US" sz="2154">
                <a:solidFill>
                  <a:srgbClr val="000000"/>
                </a:solidFill>
                <a:latin typeface="Inter"/>
                <a:ea typeface="Inter"/>
                <a:cs typeface="Inter"/>
                <a:sym typeface="Inter"/>
              </a:endParaRPr>
            </a:p>
          </p:txBody>
        </p:sp>
        <p:sp>
          <p:nvSpPr>
            <p:cNvPr id="58" name="TextBox 25"/>
            <p:cNvSpPr txBox="1"/>
            <p:nvPr/>
          </p:nvSpPr>
          <p:spPr>
            <a:xfrm>
              <a:off x="10549444" y="6421468"/>
              <a:ext cx="3298187" cy="981552"/>
            </a:xfrm>
            <a:prstGeom prst="rect">
              <a:avLst/>
            </a:prstGeom>
          </p:spPr>
          <p:txBody>
            <a:bodyPr lIns="0" tIns="0" rIns="0" bIns="0" rtlCol="0" anchor="t">
              <a:spAutoFit/>
            </a:bodyPr>
            <a:lstStyle/>
            <a:p>
              <a:pPr algn="ctr">
                <a:lnSpc>
                  <a:spcPts val="3016"/>
                </a:lnSpc>
                <a:spcBef>
                  <a:spcPct val="0"/>
                </a:spcBef>
              </a:pPr>
              <a:r>
                <a:rPr lang="en-US" sz="2154">
                  <a:solidFill>
                    <a:srgbClr val="000000"/>
                  </a:solidFill>
                  <a:latin typeface="Inter"/>
                  <a:ea typeface="Inter"/>
                  <a:cs typeface="Inter"/>
                  <a:sym typeface="Inter"/>
                </a:rPr>
                <a:t>Cộng đồng lớn và tài liệu phong phú</a:t>
              </a:r>
            </a:p>
          </p:txBody>
        </p:sp>
        <p:sp>
          <p:nvSpPr>
            <p:cNvPr id="59" name="TextBox 26"/>
            <p:cNvSpPr txBox="1"/>
            <p:nvPr/>
          </p:nvSpPr>
          <p:spPr>
            <a:xfrm>
              <a:off x="2604423" y="6421468"/>
              <a:ext cx="4436902" cy="981552"/>
            </a:xfrm>
            <a:prstGeom prst="rect">
              <a:avLst/>
            </a:prstGeom>
          </p:spPr>
          <p:txBody>
            <a:bodyPr lIns="0" tIns="0" rIns="0" bIns="0" rtlCol="0" anchor="t">
              <a:spAutoFit/>
            </a:bodyPr>
            <a:lstStyle/>
            <a:p>
              <a:pPr algn="ctr">
                <a:lnSpc>
                  <a:spcPts val="3016"/>
                </a:lnSpc>
                <a:spcBef>
                  <a:spcPct val="0"/>
                </a:spcBef>
              </a:pPr>
              <a:r>
                <a:rPr lang="en-US" sz="2154">
                  <a:solidFill>
                    <a:srgbClr val="000000"/>
                  </a:solidFill>
                  <a:latin typeface="Inter"/>
                  <a:ea typeface="Inter"/>
                  <a:cs typeface="Inter"/>
                  <a:sym typeface="Inter"/>
                </a:rPr>
                <a:t>Hệ thống middleware mạnh mẽ</a:t>
              </a:r>
            </a:p>
          </p:txBody>
        </p:sp>
        <p:sp>
          <p:nvSpPr>
            <p:cNvPr id="60" name="TextBox 27"/>
            <p:cNvSpPr txBox="1"/>
            <p:nvPr/>
          </p:nvSpPr>
          <p:spPr>
            <a:xfrm>
              <a:off x="10354109" y="1468263"/>
              <a:ext cx="3688856" cy="468591"/>
            </a:xfrm>
            <a:prstGeom prst="rect">
              <a:avLst/>
            </a:prstGeom>
          </p:spPr>
          <p:txBody>
            <a:bodyPr lIns="0" tIns="0" rIns="0" bIns="0" rtlCol="0" anchor="t">
              <a:spAutoFit/>
            </a:bodyPr>
            <a:lstStyle/>
            <a:p>
              <a:pPr algn="ctr">
                <a:lnSpc>
                  <a:spcPts val="3016"/>
                </a:lnSpc>
              </a:pPr>
              <a:r>
                <a:rPr lang="en-US" sz="2154">
                  <a:solidFill>
                    <a:srgbClr val="000000"/>
                  </a:solidFill>
                  <a:latin typeface="Inter"/>
                  <a:ea typeface="Inter"/>
                  <a:cs typeface="Inter"/>
                  <a:sym typeface="Inter"/>
                </a:rPr>
                <a:t>Hiệu năng cao</a:t>
              </a:r>
            </a:p>
          </p:txBody>
        </p:sp>
      </p:grpSp>
    </p:spTree>
    <p:extLst>
      <p:ext uri="{BB962C8B-B14F-4D97-AF65-F5344CB8AC3E}">
        <p14:creationId xmlns:p14="http://schemas.microsoft.com/office/powerpoint/2010/main" val="1383938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2</a:t>
            </a:r>
            <a:r>
              <a:rPr lang="en-US" sz="2600" i="1" spc="72" smtClean="0">
                <a:solidFill>
                  <a:srgbClr val="6E309C"/>
                </a:solidFill>
                <a:latin typeface="Arimo Italics"/>
                <a:ea typeface="Arimo Italics"/>
                <a:cs typeface="Arimo Italics"/>
                <a:sym typeface="Arimo Italics"/>
              </a:rPr>
              <a:t>. </a:t>
            </a:r>
            <a:r>
              <a:rPr lang="vi-VN" sz="2600" i="1" spc="72" smtClean="0">
                <a:solidFill>
                  <a:srgbClr val="6E309C"/>
                </a:solidFill>
                <a:latin typeface="Arimo Italics"/>
                <a:ea typeface="Arimo Italics"/>
                <a:cs typeface="Arimo Italics"/>
                <a:sym typeface="Arimo Italics"/>
              </a:rPr>
              <a:t>Cơ</a:t>
            </a:r>
            <a:r>
              <a:rPr lang="en-US" sz="2600" i="1" spc="72" smtClean="0">
                <a:solidFill>
                  <a:srgbClr val="6E309C"/>
                </a:solidFill>
                <a:latin typeface="Arimo Italics"/>
                <a:ea typeface="Arimo Italics"/>
                <a:cs typeface="Arimo Italics"/>
                <a:sym typeface="Arimo Italics"/>
              </a:rPr>
              <a:t> sở lý thuyết</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MySQL</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8</a:t>
            </a:r>
            <a:endParaRPr lang="en-US" sz="2600" b="1" spc="72">
              <a:solidFill>
                <a:srgbClr val="6E309C"/>
              </a:solidFill>
              <a:latin typeface="Arimo Bold"/>
              <a:ea typeface="Arimo Bold"/>
              <a:cs typeface="Arimo Bold"/>
              <a:sym typeface="Arimo Bold"/>
            </a:endParaRPr>
          </a:p>
        </p:txBody>
      </p:sp>
      <p:sp>
        <p:nvSpPr>
          <p:cNvPr id="15" name="TextBox 2"/>
          <p:cNvSpPr txBox="1"/>
          <p:nvPr/>
        </p:nvSpPr>
        <p:spPr>
          <a:xfrm>
            <a:off x="763112" y="3731758"/>
            <a:ext cx="6774157" cy="2000548"/>
          </a:xfrm>
          <a:prstGeom prst="rect">
            <a:avLst/>
          </a:prstGeom>
        </p:spPr>
        <p:txBody>
          <a:bodyPr wrap="square" lIns="0" tIns="0" rIns="0" bIns="0" rtlCol="0" anchor="t">
            <a:spAutoFit/>
          </a:bodyPr>
          <a:lstStyle/>
          <a:p>
            <a:pPr lvl="0" algn="just">
              <a:lnSpc>
                <a:spcPts val="3919"/>
              </a:lnSpc>
              <a:spcBef>
                <a:spcPct val="0"/>
              </a:spcBef>
            </a:pPr>
            <a:r>
              <a:rPr lang="vi-VN" sz="2799" b="1">
                <a:solidFill>
                  <a:srgbClr val="000000"/>
                </a:solidFill>
                <a:latin typeface="Inter Bold"/>
                <a:ea typeface="Inter Bold"/>
                <a:cs typeface="Inter Bold"/>
                <a:sym typeface="Inter Bold"/>
              </a:rPr>
              <a:t>MySQL </a:t>
            </a:r>
            <a:r>
              <a:rPr lang="vi-VN" sz="2799">
                <a:solidFill>
                  <a:srgbClr val="000000"/>
                </a:solidFill>
                <a:latin typeface="Inter Bold"/>
                <a:ea typeface="Inter Bold"/>
                <a:cs typeface="Inter Bold"/>
                <a:sym typeface="Inter Bold"/>
              </a:rPr>
              <a:t>là một hệ quản trị cơ sở dữ liệu quan hệ (RDBMS) mã nguồn mở, sử dụng ngôn ngữ SQL để lưu trữ, quản lý và truy vấn dữ liệu</a:t>
            </a:r>
            <a:r>
              <a:rPr lang="vi-VN" sz="2799" smtClean="0">
                <a:solidFill>
                  <a:srgbClr val="000000"/>
                </a:solidFill>
                <a:latin typeface="Inter Bold"/>
                <a:ea typeface="Inter Bold"/>
                <a:cs typeface="Inter Bold"/>
                <a:sym typeface="Inter Bold"/>
              </a:rPr>
              <a:t>.</a:t>
            </a:r>
            <a:endParaRPr lang="en-US" sz="2799" u="none" strike="noStrike">
              <a:solidFill>
                <a:srgbClr val="000000"/>
              </a:solidFill>
              <a:latin typeface="Inter"/>
              <a:ea typeface="Inter"/>
              <a:cs typeface="Inter"/>
              <a:sym typeface="Inter"/>
            </a:endParaRPr>
          </a:p>
        </p:txBody>
      </p:sp>
      <p:grpSp>
        <p:nvGrpSpPr>
          <p:cNvPr id="47" name="Group 5"/>
          <p:cNvGrpSpPr/>
          <p:nvPr/>
        </p:nvGrpSpPr>
        <p:grpSpPr>
          <a:xfrm>
            <a:off x="8575862" y="1820344"/>
            <a:ext cx="9134269" cy="5915291"/>
            <a:chOff x="317725" y="-47625"/>
            <a:chExt cx="12179025" cy="7887055"/>
          </a:xfrm>
        </p:grpSpPr>
        <p:sp>
          <p:nvSpPr>
            <p:cNvPr id="48" name="Freeform 6"/>
            <p:cNvSpPr/>
            <p:nvPr/>
          </p:nvSpPr>
          <p:spPr>
            <a:xfrm>
              <a:off x="2805852" y="1596253"/>
              <a:ext cx="5486400" cy="5486400"/>
            </a:xfrm>
            <a:custGeom>
              <a:avLst/>
              <a:gdLst/>
              <a:ahLst/>
              <a:cxnLst/>
              <a:rect l="l" t="t" r="r" b="b"/>
              <a:pathLst>
                <a:path w="5486400" h="5486400">
                  <a:moveTo>
                    <a:pt x="0" y="0"/>
                  </a:moveTo>
                  <a:lnTo>
                    <a:pt x="5486400" y="0"/>
                  </a:lnTo>
                  <a:lnTo>
                    <a:pt x="5486400" y="5486400"/>
                  </a:lnTo>
                  <a:lnTo>
                    <a:pt x="0" y="5486400"/>
                  </a:lnTo>
                  <a:lnTo>
                    <a:pt x="0" y="0"/>
                  </a:lnTo>
                  <a:close/>
                </a:path>
              </a:pathLst>
            </a:custGeom>
            <a:blipFill>
              <a:blip r:embed="rId2">
                <a:alphaModFix amt="53000"/>
                <a:extLst>
                  <a:ext uri="{96DAC541-7B7A-43D3-8B79-37D633B846F1}">
                    <asvg:svgBlip xmlns="" xmlns:asvg="http://schemas.microsoft.com/office/drawing/2016/SVG/main" r:embed="rId4"/>
                  </a:ext>
                </a:extLst>
              </a:blip>
              <a:stretch>
                <a:fillRect/>
              </a:stretch>
            </a:blipFill>
          </p:spPr>
        </p:sp>
        <p:sp>
          <p:nvSpPr>
            <p:cNvPr id="49" name="Freeform 7"/>
            <p:cNvSpPr/>
            <p:nvPr/>
          </p:nvSpPr>
          <p:spPr>
            <a:xfrm>
              <a:off x="6812887" y="5422390"/>
              <a:ext cx="1528692" cy="1528692"/>
            </a:xfrm>
            <a:custGeom>
              <a:avLst/>
              <a:gdLst/>
              <a:ahLst/>
              <a:cxnLst/>
              <a:rect l="l" t="t" r="r" b="b"/>
              <a:pathLst>
                <a:path w="1528692" h="1528692">
                  <a:moveTo>
                    <a:pt x="0" y="0"/>
                  </a:moveTo>
                  <a:lnTo>
                    <a:pt x="1528692" y="0"/>
                  </a:lnTo>
                  <a:lnTo>
                    <a:pt x="1528692" y="1528692"/>
                  </a:lnTo>
                  <a:lnTo>
                    <a:pt x="0" y="152869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50" name="Freeform 8"/>
            <p:cNvSpPr/>
            <p:nvPr/>
          </p:nvSpPr>
          <p:spPr>
            <a:xfrm>
              <a:off x="7206035" y="5743515"/>
              <a:ext cx="742396" cy="886443"/>
            </a:xfrm>
            <a:custGeom>
              <a:avLst/>
              <a:gdLst/>
              <a:ahLst/>
              <a:cxnLst/>
              <a:rect l="l" t="t" r="r" b="b"/>
              <a:pathLst>
                <a:path w="742396" h="886443">
                  <a:moveTo>
                    <a:pt x="0" y="0"/>
                  </a:moveTo>
                  <a:lnTo>
                    <a:pt x="742396" y="0"/>
                  </a:lnTo>
                  <a:lnTo>
                    <a:pt x="742396" y="886443"/>
                  </a:lnTo>
                  <a:lnTo>
                    <a:pt x="0" y="886443"/>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51" name="Freeform 9"/>
            <p:cNvSpPr/>
            <p:nvPr/>
          </p:nvSpPr>
          <p:spPr>
            <a:xfrm>
              <a:off x="2068019" y="2780135"/>
              <a:ext cx="1528692" cy="1528692"/>
            </a:xfrm>
            <a:custGeom>
              <a:avLst/>
              <a:gdLst/>
              <a:ahLst/>
              <a:cxnLst/>
              <a:rect l="l" t="t" r="r" b="b"/>
              <a:pathLst>
                <a:path w="1528692" h="1528692">
                  <a:moveTo>
                    <a:pt x="0" y="0"/>
                  </a:moveTo>
                  <a:lnTo>
                    <a:pt x="1528692" y="0"/>
                  </a:lnTo>
                  <a:lnTo>
                    <a:pt x="1528692" y="1528692"/>
                  </a:lnTo>
                  <a:lnTo>
                    <a:pt x="0" y="152869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52" name="Freeform 10"/>
            <p:cNvSpPr/>
            <p:nvPr/>
          </p:nvSpPr>
          <p:spPr>
            <a:xfrm>
              <a:off x="2391847" y="3102305"/>
              <a:ext cx="881036" cy="884353"/>
            </a:xfrm>
            <a:custGeom>
              <a:avLst/>
              <a:gdLst/>
              <a:ahLst/>
              <a:cxnLst/>
              <a:rect l="l" t="t" r="r" b="b"/>
              <a:pathLst>
                <a:path w="881036" h="884353">
                  <a:moveTo>
                    <a:pt x="0" y="0"/>
                  </a:moveTo>
                  <a:lnTo>
                    <a:pt x="881037" y="0"/>
                  </a:lnTo>
                  <a:lnTo>
                    <a:pt x="881037" y="884353"/>
                  </a:lnTo>
                  <a:lnTo>
                    <a:pt x="0" y="884353"/>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53" name="Freeform 11"/>
            <p:cNvSpPr/>
            <p:nvPr/>
          </p:nvSpPr>
          <p:spPr>
            <a:xfrm>
              <a:off x="7527906" y="2780135"/>
              <a:ext cx="1528692" cy="1528692"/>
            </a:xfrm>
            <a:custGeom>
              <a:avLst/>
              <a:gdLst/>
              <a:ahLst/>
              <a:cxnLst/>
              <a:rect l="l" t="t" r="r" b="b"/>
              <a:pathLst>
                <a:path w="1528692" h="1528692">
                  <a:moveTo>
                    <a:pt x="0" y="0"/>
                  </a:moveTo>
                  <a:lnTo>
                    <a:pt x="1528692" y="0"/>
                  </a:lnTo>
                  <a:lnTo>
                    <a:pt x="1528692" y="1528692"/>
                  </a:lnTo>
                  <a:lnTo>
                    <a:pt x="0" y="152869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54" name="Freeform 12"/>
            <p:cNvSpPr/>
            <p:nvPr/>
          </p:nvSpPr>
          <p:spPr>
            <a:xfrm>
              <a:off x="7872144" y="3104677"/>
              <a:ext cx="840216" cy="760778"/>
            </a:xfrm>
            <a:custGeom>
              <a:avLst/>
              <a:gdLst/>
              <a:ahLst/>
              <a:cxnLst/>
              <a:rect l="l" t="t" r="r" b="b"/>
              <a:pathLst>
                <a:path w="840216" h="760778">
                  <a:moveTo>
                    <a:pt x="0" y="0"/>
                  </a:moveTo>
                  <a:lnTo>
                    <a:pt x="840216" y="0"/>
                  </a:lnTo>
                  <a:lnTo>
                    <a:pt x="840216" y="760778"/>
                  </a:lnTo>
                  <a:lnTo>
                    <a:pt x="0" y="760778"/>
                  </a:lnTo>
                  <a:lnTo>
                    <a:pt x="0" y="0"/>
                  </a:lnTo>
                  <a:close/>
                </a:path>
              </a:pathLst>
            </a:custGeom>
            <a:blipFill>
              <a:blip r:embed="rId11">
                <a:extLst>
                  <a:ext uri="{96DAC541-7B7A-43D3-8B79-37D633B846F1}">
                    <asvg:svgBlip xmlns="" xmlns:asvg="http://schemas.microsoft.com/office/drawing/2016/SVG/main" r:embed="rId12"/>
                  </a:ext>
                </a:extLst>
              </a:blip>
              <a:stretch>
                <a:fillRect/>
              </a:stretch>
            </a:blipFill>
          </p:spPr>
        </p:sp>
        <p:sp>
          <p:nvSpPr>
            <p:cNvPr id="55" name="Freeform 13"/>
            <p:cNvSpPr/>
            <p:nvPr/>
          </p:nvSpPr>
          <p:spPr>
            <a:xfrm>
              <a:off x="4784706" y="762847"/>
              <a:ext cx="1528692" cy="1528692"/>
            </a:xfrm>
            <a:custGeom>
              <a:avLst/>
              <a:gdLst/>
              <a:ahLst/>
              <a:cxnLst/>
              <a:rect l="l" t="t" r="r" b="b"/>
              <a:pathLst>
                <a:path w="1528692" h="1528692">
                  <a:moveTo>
                    <a:pt x="0" y="0"/>
                  </a:moveTo>
                  <a:lnTo>
                    <a:pt x="1528692" y="0"/>
                  </a:lnTo>
                  <a:lnTo>
                    <a:pt x="1528692" y="1528692"/>
                  </a:lnTo>
                  <a:lnTo>
                    <a:pt x="0" y="152869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56" name="Freeform 14"/>
            <p:cNvSpPr/>
            <p:nvPr/>
          </p:nvSpPr>
          <p:spPr>
            <a:xfrm rot="2700000">
              <a:off x="5246526" y="1208576"/>
              <a:ext cx="636437" cy="637233"/>
            </a:xfrm>
            <a:custGeom>
              <a:avLst/>
              <a:gdLst/>
              <a:ahLst/>
              <a:cxnLst/>
              <a:rect l="l" t="t" r="r" b="b"/>
              <a:pathLst>
                <a:path w="636437" h="637233">
                  <a:moveTo>
                    <a:pt x="0" y="0"/>
                  </a:moveTo>
                  <a:lnTo>
                    <a:pt x="636437" y="0"/>
                  </a:lnTo>
                  <a:lnTo>
                    <a:pt x="636437" y="637233"/>
                  </a:lnTo>
                  <a:lnTo>
                    <a:pt x="0" y="637233"/>
                  </a:lnTo>
                  <a:lnTo>
                    <a:pt x="0" y="0"/>
                  </a:lnTo>
                  <a:close/>
                </a:path>
              </a:pathLst>
            </a:custGeom>
            <a:blipFill>
              <a:blip r:embed="rId13">
                <a:extLst>
                  <a:ext uri="{96DAC541-7B7A-43D3-8B79-37D633B846F1}">
                    <asvg:svgBlip xmlns="" xmlns:asvg="http://schemas.microsoft.com/office/drawing/2016/SVG/main" r:embed="rId14"/>
                  </a:ext>
                </a:extLst>
              </a:blip>
              <a:stretch>
                <a:fillRect/>
              </a:stretch>
            </a:blipFill>
          </p:spPr>
        </p:sp>
        <p:sp>
          <p:nvSpPr>
            <p:cNvPr id="57" name="Freeform 15"/>
            <p:cNvSpPr/>
            <p:nvPr/>
          </p:nvSpPr>
          <p:spPr>
            <a:xfrm>
              <a:off x="3054086" y="5553961"/>
              <a:ext cx="1528692" cy="1528692"/>
            </a:xfrm>
            <a:custGeom>
              <a:avLst/>
              <a:gdLst/>
              <a:ahLst/>
              <a:cxnLst/>
              <a:rect l="l" t="t" r="r" b="b"/>
              <a:pathLst>
                <a:path w="1528692" h="1528692">
                  <a:moveTo>
                    <a:pt x="0" y="0"/>
                  </a:moveTo>
                  <a:lnTo>
                    <a:pt x="1528692" y="0"/>
                  </a:lnTo>
                  <a:lnTo>
                    <a:pt x="1528692" y="1528692"/>
                  </a:lnTo>
                  <a:lnTo>
                    <a:pt x="0" y="1528692"/>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58" name="Freeform 16"/>
            <p:cNvSpPr/>
            <p:nvPr/>
          </p:nvSpPr>
          <p:spPr>
            <a:xfrm>
              <a:off x="3472870" y="6076414"/>
              <a:ext cx="691123" cy="483786"/>
            </a:xfrm>
            <a:custGeom>
              <a:avLst/>
              <a:gdLst/>
              <a:ahLst/>
              <a:cxnLst/>
              <a:rect l="l" t="t" r="r" b="b"/>
              <a:pathLst>
                <a:path w="691123" h="483786">
                  <a:moveTo>
                    <a:pt x="0" y="0"/>
                  </a:moveTo>
                  <a:lnTo>
                    <a:pt x="691123" y="0"/>
                  </a:lnTo>
                  <a:lnTo>
                    <a:pt x="691123" y="483786"/>
                  </a:lnTo>
                  <a:lnTo>
                    <a:pt x="0" y="483786"/>
                  </a:lnTo>
                  <a:lnTo>
                    <a:pt x="0" y="0"/>
                  </a:lnTo>
                  <a:close/>
                </a:path>
              </a:pathLst>
            </a:custGeom>
            <a:blipFill>
              <a:blip r:embed="rId15">
                <a:extLst>
                  <a:ext uri="{96DAC541-7B7A-43D3-8B79-37D633B846F1}">
                    <asvg:svgBlip xmlns="" xmlns:asvg="http://schemas.microsoft.com/office/drawing/2016/SVG/main" r:embed="rId16"/>
                  </a:ext>
                </a:extLst>
              </a:blip>
              <a:stretch>
                <a:fillRect/>
              </a:stretch>
            </a:blipFill>
          </p:spPr>
        </p:sp>
        <p:sp>
          <p:nvSpPr>
            <p:cNvPr id="60" name="TextBox 18"/>
            <p:cNvSpPr txBox="1"/>
            <p:nvPr/>
          </p:nvSpPr>
          <p:spPr>
            <a:xfrm>
              <a:off x="317725" y="2955259"/>
              <a:ext cx="2068019" cy="1178443"/>
            </a:xfrm>
            <a:prstGeom prst="rect">
              <a:avLst/>
            </a:prstGeom>
          </p:spPr>
          <p:txBody>
            <a:bodyPr lIns="0" tIns="0" rIns="0" bIns="0" rtlCol="0" anchor="t">
              <a:spAutoFit/>
            </a:bodyPr>
            <a:lstStyle/>
            <a:p>
              <a:pPr>
                <a:lnSpc>
                  <a:spcPts val="3640"/>
                </a:lnSpc>
              </a:pPr>
              <a:r>
                <a:rPr lang="en-US" sz="2600" i="1" smtClean="0">
                  <a:solidFill>
                    <a:srgbClr val="000000"/>
                  </a:solidFill>
                  <a:latin typeface="Inter Italics"/>
                  <a:ea typeface="Inter Italics"/>
                  <a:cs typeface="Inter Italics"/>
                  <a:sym typeface="Inter Italics"/>
                </a:rPr>
                <a:t>Đa nền tảng</a:t>
              </a:r>
              <a:endParaRPr lang="en-US" sz="2600" i="1">
                <a:solidFill>
                  <a:srgbClr val="000000"/>
                </a:solidFill>
                <a:latin typeface="Inter Italics"/>
                <a:ea typeface="Inter Italics"/>
                <a:cs typeface="Inter Italics"/>
                <a:sym typeface="Inter Italics"/>
              </a:endParaRPr>
            </a:p>
          </p:txBody>
        </p:sp>
        <p:sp>
          <p:nvSpPr>
            <p:cNvPr id="61" name="TextBox 19"/>
            <p:cNvSpPr txBox="1"/>
            <p:nvPr/>
          </p:nvSpPr>
          <p:spPr>
            <a:xfrm>
              <a:off x="8502783" y="6469455"/>
              <a:ext cx="2464391" cy="1178443"/>
            </a:xfrm>
            <a:prstGeom prst="rect">
              <a:avLst/>
            </a:prstGeom>
          </p:spPr>
          <p:txBody>
            <a:bodyPr lIns="0" tIns="0" rIns="0" bIns="0" rtlCol="0" anchor="t">
              <a:spAutoFit/>
            </a:bodyPr>
            <a:lstStyle/>
            <a:p>
              <a:pPr>
                <a:lnSpc>
                  <a:spcPts val="3640"/>
                </a:lnSpc>
              </a:pPr>
              <a:r>
                <a:rPr lang="en-US" sz="2600" i="1" smtClean="0">
                  <a:solidFill>
                    <a:srgbClr val="000000"/>
                  </a:solidFill>
                  <a:latin typeface="Inter Italics"/>
                  <a:ea typeface="Inter Italics"/>
                  <a:cs typeface="Inter Italics"/>
                  <a:sym typeface="Inter Italics"/>
                </a:rPr>
                <a:t>Khả năng mở rộng tốt</a:t>
              </a:r>
              <a:endParaRPr lang="en-US" sz="2600" i="1">
                <a:solidFill>
                  <a:srgbClr val="000000"/>
                </a:solidFill>
                <a:latin typeface="Inter Italics"/>
                <a:ea typeface="Inter Italics"/>
                <a:cs typeface="Inter Italics"/>
                <a:sym typeface="Inter Italics"/>
              </a:endParaRPr>
            </a:p>
          </p:txBody>
        </p:sp>
        <p:sp>
          <p:nvSpPr>
            <p:cNvPr id="62" name="TextBox 20"/>
            <p:cNvSpPr txBox="1"/>
            <p:nvPr/>
          </p:nvSpPr>
          <p:spPr>
            <a:xfrm>
              <a:off x="915715" y="7270258"/>
              <a:ext cx="3253111" cy="569172"/>
            </a:xfrm>
            <a:prstGeom prst="rect">
              <a:avLst/>
            </a:prstGeom>
          </p:spPr>
          <p:txBody>
            <a:bodyPr lIns="0" tIns="0" rIns="0" bIns="0" rtlCol="0" anchor="t">
              <a:spAutoFit/>
            </a:bodyPr>
            <a:lstStyle/>
            <a:p>
              <a:pPr marL="0" lvl="0" indent="0" algn="just">
                <a:lnSpc>
                  <a:spcPts val="3640"/>
                </a:lnSpc>
                <a:spcBef>
                  <a:spcPct val="0"/>
                </a:spcBef>
              </a:pPr>
              <a:r>
                <a:rPr lang="en-US" sz="2600" i="1">
                  <a:solidFill>
                    <a:srgbClr val="000000"/>
                  </a:solidFill>
                  <a:latin typeface="Inter Italics"/>
                  <a:ea typeface="Inter Italics"/>
                  <a:cs typeface="Inter Italics"/>
                  <a:sym typeface="Inter Italics"/>
                </a:rPr>
                <a:t>Mã nguồn mở</a:t>
              </a:r>
            </a:p>
          </p:txBody>
        </p:sp>
        <p:sp>
          <p:nvSpPr>
            <p:cNvPr id="63" name="TextBox 21"/>
            <p:cNvSpPr txBox="1"/>
            <p:nvPr/>
          </p:nvSpPr>
          <p:spPr>
            <a:xfrm>
              <a:off x="9437598" y="3219077"/>
              <a:ext cx="3059152" cy="569172"/>
            </a:xfrm>
            <a:prstGeom prst="rect">
              <a:avLst/>
            </a:prstGeom>
          </p:spPr>
          <p:txBody>
            <a:bodyPr lIns="0" tIns="0" rIns="0" bIns="0" rtlCol="0" anchor="t">
              <a:spAutoFit/>
            </a:bodyPr>
            <a:lstStyle/>
            <a:p>
              <a:pPr marL="0" lvl="0" indent="0" algn="l">
                <a:lnSpc>
                  <a:spcPts val="3640"/>
                </a:lnSpc>
                <a:spcBef>
                  <a:spcPct val="0"/>
                </a:spcBef>
              </a:pPr>
              <a:r>
                <a:rPr lang="en-US" sz="2600" i="1">
                  <a:solidFill>
                    <a:srgbClr val="000000"/>
                  </a:solidFill>
                  <a:latin typeface="Inter Italics"/>
                  <a:ea typeface="Inter Italics"/>
                  <a:cs typeface="Inter Italics"/>
                  <a:sym typeface="Inter Italics"/>
                </a:rPr>
                <a:t>Hiệu năng cao</a:t>
              </a:r>
            </a:p>
          </p:txBody>
        </p:sp>
        <p:sp>
          <p:nvSpPr>
            <p:cNvPr id="64" name="TextBox 22"/>
            <p:cNvSpPr txBox="1"/>
            <p:nvPr/>
          </p:nvSpPr>
          <p:spPr>
            <a:xfrm>
              <a:off x="4146884" y="-47625"/>
              <a:ext cx="3059152" cy="569172"/>
            </a:xfrm>
            <a:prstGeom prst="rect">
              <a:avLst/>
            </a:prstGeom>
          </p:spPr>
          <p:txBody>
            <a:bodyPr lIns="0" tIns="0" rIns="0" bIns="0" rtlCol="0" anchor="t">
              <a:spAutoFit/>
            </a:bodyPr>
            <a:lstStyle/>
            <a:p>
              <a:pPr marL="0" lvl="0" indent="0" algn="ctr">
                <a:lnSpc>
                  <a:spcPts val="3640"/>
                </a:lnSpc>
                <a:spcBef>
                  <a:spcPct val="0"/>
                </a:spcBef>
              </a:pPr>
              <a:r>
                <a:rPr lang="en-US" sz="2600" i="1" smtClean="0">
                  <a:solidFill>
                    <a:srgbClr val="000000"/>
                  </a:solidFill>
                  <a:latin typeface="Inter Italics"/>
                  <a:ea typeface="Inter Italics"/>
                  <a:cs typeface="Inter Italics"/>
                  <a:sym typeface="Inter Italics"/>
                </a:rPr>
                <a:t>Dễ sử dụng</a:t>
              </a:r>
              <a:endParaRPr lang="en-US" sz="2600" i="1">
                <a:solidFill>
                  <a:srgbClr val="000000"/>
                </a:solidFill>
                <a:latin typeface="Inter Italics"/>
                <a:ea typeface="Inter Italics"/>
                <a:cs typeface="Inter Italics"/>
                <a:sym typeface="Inter Italics"/>
              </a:endParaRPr>
            </a:p>
          </p:txBody>
        </p:sp>
      </p:grpSp>
      <p:pic>
        <p:nvPicPr>
          <p:cNvPr id="2050" name="Picture 2" descr="MySQL logo and symbol, meaning, history, PN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1163760" y="4036500"/>
            <a:ext cx="2691078" cy="168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15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2</a:t>
            </a:r>
            <a:r>
              <a:rPr lang="en-US" sz="2600" i="1" spc="72" smtClean="0">
                <a:solidFill>
                  <a:srgbClr val="6E309C"/>
                </a:solidFill>
                <a:latin typeface="Arimo Italics"/>
                <a:ea typeface="Arimo Italics"/>
                <a:cs typeface="Arimo Italics"/>
                <a:sym typeface="Arimo Italics"/>
              </a:rPr>
              <a:t>. </a:t>
            </a:r>
            <a:r>
              <a:rPr lang="vi-VN" sz="2600" i="1" spc="72" smtClean="0">
                <a:solidFill>
                  <a:srgbClr val="6E309C"/>
                </a:solidFill>
                <a:latin typeface="Arimo Italics"/>
                <a:ea typeface="Arimo Italics"/>
                <a:cs typeface="Arimo Italics"/>
                <a:sym typeface="Arimo Italics"/>
              </a:rPr>
              <a:t>Cơ</a:t>
            </a:r>
            <a:r>
              <a:rPr lang="en-US" sz="2600" i="1" spc="72" smtClean="0">
                <a:solidFill>
                  <a:srgbClr val="6E309C"/>
                </a:solidFill>
                <a:latin typeface="Arimo Italics"/>
                <a:ea typeface="Arimo Italics"/>
                <a:cs typeface="Arimo Italics"/>
                <a:sym typeface="Arimo Italics"/>
              </a:rPr>
              <a:t> sở lý thuyết</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Clean Architecture</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259300" y="9369641"/>
            <a:ext cx="245942"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9</a:t>
            </a:r>
            <a:endParaRPr lang="en-US" sz="2600" b="1" spc="72">
              <a:solidFill>
                <a:srgbClr val="6E309C"/>
              </a:solidFill>
              <a:latin typeface="Arimo Bold"/>
              <a:ea typeface="Arimo Bold"/>
              <a:cs typeface="Arimo Bold"/>
              <a:sym typeface="Arimo Bold"/>
            </a:endParaRPr>
          </a:p>
        </p:txBody>
      </p:sp>
      <p:sp>
        <p:nvSpPr>
          <p:cNvPr id="27" name="Freeform 5"/>
          <p:cNvSpPr/>
          <p:nvPr/>
        </p:nvSpPr>
        <p:spPr>
          <a:xfrm>
            <a:off x="8886062" y="2207567"/>
            <a:ext cx="8373238" cy="5871866"/>
          </a:xfrm>
          <a:custGeom>
            <a:avLst/>
            <a:gdLst/>
            <a:ahLst/>
            <a:cxnLst/>
            <a:rect l="l" t="t" r="r" b="b"/>
            <a:pathLst>
              <a:path w="8373238" h="5871866">
                <a:moveTo>
                  <a:pt x="0" y="0"/>
                </a:moveTo>
                <a:lnTo>
                  <a:pt x="8373238" y="0"/>
                </a:lnTo>
                <a:lnTo>
                  <a:pt x="8373238" y="5871866"/>
                </a:lnTo>
                <a:lnTo>
                  <a:pt x="0" y="5871866"/>
                </a:lnTo>
                <a:lnTo>
                  <a:pt x="0" y="0"/>
                </a:lnTo>
                <a:close/>
              </a:path>
            </a:pathLst>
          </a:custGeom>
          <a:blipFill>
            <a:blip r:embed="rId2"/>
            <a:stretch>
              <a:fillRect/>
            </a:stretch>
          </a:blipFill>
        </p:spPr>
      </p:sp>
      <p:sp>
        <p:nvSpPr>
          <p:cNvPr id="28" name="TextBox 10"/>
          <p:cNvSpPr txBox="1"/>
          <p:nvPr/>
        </p:nvSpPr>
        <p:spPr>
          <a:xfrm>
            <a:off x="763112" y="2556251"/>
            <a:ext cx="7513563" cy="2967355"/>
          </a:xfrm>
          <a:prstGeom prst="rect">
            <a:avLst/>
          </a:prstGeom>
        </p:spPr>
        <p:txBody>
          <a:bodyPr lIns="0" tIns="0" rIns="0" bIns="0" rtlCol="0" anchor="t">
            <a:spAutoFit/>
          </a:bodyPr>
          <a:lstStyle/>
          <a:p>
            <a:pPr marL="0" lvl="0" indent="0" algn="just">
              <a:lnSpc>
                <a:spcPts val="3919"/>
              </a:lnSpc>
              <a:spcBef>
                <a:spcPct val="0"/>
              </a:spcBef>
            </a:pPr>
            <a:r>
              <a:rPr lang="en-US" sz="2799" b="1" u="none" strike="noStrike">
                <a:solidFill>
                  <a:srgbClr val="000000"/>
                </a:solidFill>
                <a:latin typeface="Inter Bold"/>
                <a:ea typeface="Inter Bold"/>
                <a:cs typeface="Inter Bold"/>
                <a:sym typeface="Inter Bold"/>
              </a:rPr>
              <a:t>Clean Architecture </a:t>
            </a:r>
            <a:r>
              <a:rPr lang="en-US" sz="2799" u="none" strike="noStrike">
                <a:solidFill>
                  <a:srgbClr val="000000"/>
                </a:solidFill>
                <a:latin typeface="Inter"/>
                <a:ea typeface="Inter"/>
                <a:cs typeface="Inter"/>
                <a:sym typeface="Inter"/>
              </a:rPr>
              <a:t>là một mô hình kiến trúc phần mềm hiện đại, được đề xuất bởi Robert C. Martin nhằm giải quyết vấn đề phân tách rõ ràng giữa logic nghiệp vụ và các chi tiết triển khai như cơ sở dữ liệu, giao diện người dùng hoặc framework. </a:t>
            </a:r>
          </a:p>
        </p:txBody>
      </p:sp>
      <p:sp>
        <p:nvSpPr>
          <p:cNvPr id="29" name="TextBox 11"/>
          <p:cNvSpPr txBox="1"/>
          <p:nvPr/>
        </p:nvSpPr>
        <p:spPr>
          <a:xfrm>
            <a:off x="763112" y="5965345"/>
            <a:ext cx="7513563" cy="1481455"/>
          </a:xfrm>
          <a:prstGeom prst="rect">
            <a:avLst/>
          </a:prstGeom>
        </p:spPr>
        <p:txBody>
          <a:bodyPr lIns="0" tIns="0" rIns="0" bIns="0" rtlCol="0" anchor="t">
            <a:spAutoFit/>
          </a:bodyPr>
          <a:lstStyle/>
          <a:p>
            <a:pPr marL="0" lvl="0" indent="0" algn="just">
              <a:lnSpc>
                <a:spcPts val="3919"/>
              </a:lnSpc>
              <a:spcBef>
                <a:spcPct val="0"/>
              </a:spcBef>
            </a:pPr>
            <a:r>
              <a:rPr lang="en-US" sz="2799" b="1" u="none" strike="noStrike">
                <a:solidFill>
                  <a:srgbClr val="000000"/>
                </a:solidFill>
                <a:latin typeface="Inter Bold"/>
                <a:ea typeface="Inter Bold"/>
                <a:cs typeface="Inter Bold"/>
                <a:sym typeface="Inter Bold"/>
              </a:rPr>
              <a:t>Mục tiêu cốt lõi </a:t>
            </a:r>
            <a:r>
              <a:rPr lang="en-US" sz="2799" u="none" strike="noStrike">
                <a:solidFill>
                  <a:srgbClr val="000000"/>
                </a:solidFill>
                <a:latin typeface="Inter"/>
                <a:ea typeface="Inter"/>
                <a:cs typeface="Inter"/>
                <a:sym typeface="Inter"/>
              </a:rPr>
              <a:t>của mô hình là xây dựng hệ thống có tính độc lập cao, dễ bảo trì và dễ kiểm thử. </a:t>
            </a:r>
          </a:p>
        </p:txBody>
      </p:sp>
    </p:spTree>
    <p:extLst>
      <p:ext uri="{BB962C8B-B14F-4D97-AF65-F5344CB8AC3E}">
        <p14:creationId xmlns:p14="http://schemas.microsoft.com/office/powerpoint/2010/main" val="730954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2</a:t>
            </a:r>
            <a:r>
              <a:rPr lang="en-US" sz="2600" i="1" spc="72" smtClean="0">
                <a:solidFill>
                  <a:srgbClr val="6E309C"/>
                </a:solidFill>
                <a:latin typeface="Arimo Italics"/>
                <a:ea typeface="Arimo Italics"/>
                <a:cs typeface="Arimo Italics"/>
                <a:sym typeface="Arimo Italics"/>
              </a:rPr>
              <a:t>. </a:t>
            </a:r>
            <a:r>
              <a:rPr lang="vi-VN" sz="2600" i="1" spc="72" smtClean="0">
                <a:solidFill>
                  <a:srgbClr val="6E309C"/>
                </a:solidFill>
                <a:latin typeface="Arimo Italics"/>
                <a:ea typeface="Arimo Italics"/>
                <a:cs typeface="Arimo Italics"/>
                <a:sym typeface="Arimo Italics"/>
              </a:rPr>
              <a:t>Cơ</a:t>
            </a:r>
            <a:r>
              <a:rPr lang="en-US" sz="2600" i="1" spc="72" smtClean="0">
                <a:solidFill>
                  <a:srgbClr val="6E309C"/>
                </a:solidFill>
                <a:latin typeface="Arimo Italics"/>
                <a:ea typeface="Arimo Italics"/>
                <a:cs typeface="Arimo Italics"/>
                <a:sym typeface="Arimo Italics"/>
              </a:rPr>
              <a:t> sở lý thuyết</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Mô hình ngôn ngữ lớn - Geimini</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60091" y="9369641"/>
            <a:ext cx="445151"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10</a:t>
            </a:r>
            <a:endParaRPr lang="en-US" sz="2600" b="1" spc="72">
              <a:solidFill>
                <a:srgbClr val="6E309C"/>
              </a:solidFill>
              <a:latin typeface="Arimo Bold"/>
              <a:ea typeface="Arimo Bold"/>
              <a:cs typeface="Arimo Bold"/>
              <a:sym typeface="Arimo Bold"/>
            </a:endParaRPr>
          </a:p>
        </p:txBody>
      </p:sp>
      <p:sp>
        <p:nvSpPr>
          <p:cNvPr id="11" name="TextBox 9"/>
          <p:cNvSpPr txBox="1"/>
          <p:nvPr/>
        </p:nvSpPr>
        <p:spPr>
          <a:xfrm>
            <a:off x="763112" y="3272182"/>
            <a:ext cx="9396315" cy="1976755"/>
          </a:xfrm>
          <a:prstGeom prst="rect">
            <a:avLst/>
          </a:prstGeom>
        </p:spPr>
        <p:txBody>
          <a:bodyPr lIns="0" tIns="0" rIns="0" bIns="0" rtlCol="0" anchor="t">
            <a:spAutoFit/>
          </a:bodyPr>
          <a:lstStyle/>
          <a:p>
            <a:pPr marL="0" lvl="0" indent="0" algn="just">
              <a:lnSpc>
                <a:spcPts val="3919"/>
              </a:lnSpc>
              <a:spcBef>
                <a:spcPct val="0"/>
              </a:spcBef>
            </a:pPr>
            <a:r>
              <a:rPr lang="en-US" sz="2799" b="1">
                <a:solidFill>
                  <a:srgbClr val="000000"/>
                </a:solidFill>
                <a:latin typeface="Inter Bold"/>
                <a:ea typeface="Inter Bold"/>
                <a:cs typeface="Inter Bold"/>
                <a:sym typeface="Inter Bold"/>
              </a:rPr>
              <a:t>Mô hình ngôn ngữ lớn (LLM)</a:t>
            </a:r>
            <a:r>
              <a:rPr lang="en-US" sz="2799">
                <a:solidFill>
                  <a:srgbClr val="000000"/>
                </a:solidFill>
                <a:latin typeface="Inter"/>
                <a:ea typeface="Inter"/>
                <a:cs typeface="Inter"/>
                <a:sym typeface="Inter"/>
              </a:rPr>
              <a:t> l</a:t>
            </a:r>
            <a:r>
              <a:rPr lang="en-US" sz="2799" u="none" strike="noStrike">
                <a:solidFill>
                  <a:srgbClr val="000000"/>
                </a:solidFill>
                <a:latin typeface="Inter"/>
                <a:ea typeface="Inter"/>
                <a:cs typeface="Inter"/>
                <a:sym typeface="Inter"/>
              </a:rPr>
              <a:t>à một loại mạng thần kinh nhân tạo được huấn luyện trên một lượng lớn văn bản. Chúng được thiết kế để hiểu, tạo ra và giải thích thông tin bằng ngôn ngữ tự nhiên.</a:t>
            </a:r>
          </a:p>
        </p:txBody>
      </p:sp>
      <p:sp>
        <p:nvSpPr>
          <p:cNvPr id="12" name="TextBox 10"/>
          <p:cNvSpPr txBox="1"/>
          <p:nvPr/>
        </p:nvSpPr>
        <p:spPr>
          <a:xfrm>
            <a:off x="705967" y="5589845"/>
            <a:ext cx="9704185" cy="1976755"/>
          </a:xfrm>
          <a:prstGeom prst="rect">
            <a:avLst/>
          </a:prstGeom>
        </p:spPr>
        <p:txBody>
          <a:bodyPr lIns="0" tIns="0" rIns="0" bIns="0" rtlCol="0" anchor="t">
            <a:spAutoFit/>
          </a:bodyPr>
          <a:lstStyle/>
          <a:p>
            <a:pPr marL="0" lvl="0" indent="0" algn="just">
              <a:lnSpc>
                <a:spcPts val="3919"/>
              </a:lnSpc>
              <a:spcBef>
                <a:spcPct val="0"/>
              </a:spcBef>
            </a:pPr>
            <a:r>
              <a:rPr lang="en-US" sz="2799" b="1">
                <a:solidFill>
                  <a:srgbClr val="000000"/>
                </a:solidFill>
                <a:latin typeface="Inter Bold"/>
                <a:ea typeface="Inter Bold"/>
                <a:cs typeface="Inter Bold"/>
                <a:sym typeface="Inter Bold"/>
              </a:rPr>
              <a:t>Gemini</a:t>
            </a:r>
            <a:r>
              <a:rPr lang="en-US" sz="2799" u="none" strike="noStrike">
                <a:solidFill>
                  <a:srgbClr val="000000"/>
                </a:solidFill>
                <a:latin typeface="Inter"/>
                <a:ea typeface="Inter"/>
                <a:cs typeface="Inter"/>
                <a:sym typeface="Inter"/>
              </a:rPr>
              <a:t> là một trong những LLM mạnh mẽ nhất được phát triển bởi Google AI. Gemini được thiết kế để vượt trội trong nhiều nhiệm vụ, bao gồm hiểu ngôn ngữ, lập luận, và giải quyết các vấn đề phức tạp.</a:t>
            </a:r>
          </a:p>
        </p:txBody>
      </p:sp>
      <p:sp>
        <p:nvSpPr>
          <p:cNvPr id="13" name="Freeform 11"/>
          <p:cNvSpPr/>
          <p:nvPr/>
        </p:nvSpPr>
        <p:spPr>
          <a:xfrm>
            <a:off x="12907965" y="3832971"/>
            <a:ext cx="1956530" cy="1956530"/>
          </a:xfrm>
          <a:custGeom>
            <a:avLst/>
            <a:gdLst/>
            <a:ahLst/>
            <a:cxnLst/>
            <a:rect l="l" t="t" r="r" b="b"/>
            <a:pathLst>
              <a:path w="1956530" h="1956530">
                <a:moveTo>
                  <a:pt x="0" y="0"/>
                </a:moveTo>
                <a:lnTo>
                  <a:pt x="1956531" y="0"/>
                </a:lnTo>
                <a:lnTo>
                  <a:pt x="1956531" y="1956530"/>
                </a:lnTo>
                <a:lnTo>
                  <a:pt x="0" y="1956530"/>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14" name="Freeform 12"/>
          <p:cNvSpPr/>
          <p:nvPr/>
        </p:nvSpPr>
        <p:spPr>
          <a:xfrm>
            <a:off x="12882750" y="6033356"/>
            <a:ext cx="2054331" cy="578205"/>
          </a:xfrm>
          <a:custGeom>
            <a:avLst/>
            <a:gdLst/>
            <a:ahLst/>
            <a:cxnLst/>
            <a:rect l="l" t="t" r="r" b="b"/>
            <a:pathLst>
              <a:path w="2054331" h="578205">
                <a:moveTo>
                  <a:pt x="0" y="0"/>
                </a:moveTo>
                <a:lnTo>
                  <a:pt x="2054330" y="0"/>
                </a:lnTo>
                <a:lnTo>
                  <a:pt x="2054330" y="578204"/>
                </a:lnTo>
                <a:lnTo>
                  <a:pt x="0" y="578204"/>
                </a:lnTo>
                <a:lnTo>
                  <a:pt x="0" y="0"/>
                </a:lnTo>
                <a:close/>
              </a:path>
            </a:pathLst>
          </a:custGeom>
          <a:blipFill>
            <a:blip r:embed="rId5">
              <a:extLst>
                <a:ext uri="{96DAC541-7B7A-43D3-8B79-37D633B846F1}">
                  <asvg:svgBlip xmlns="" xmlns:asvg="http://schemas.microsoft.com/office/drawing/2016/SVG/main" r:embed="rId6"/>
                </a:ext>
              </a:extLst>
            </a:blip>
            <a:stretch>
              <a:fillRect t="-2084" r="-17323"/>
            </a:stretch>
          </a:blipFill>
        </p:spPr>
      </p:sp>
    </p:spTree>
    <p:extLst>
      <p:ext uri="{BB962C8B-B14F-4D97-AF65-F5344CB8AC3E}">
        <p14:creationId xmlns:p14="http://schemas.microsoft.com/office/powerpoint/2010/main" val="127075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2</a:t>
            </a:r>
            <a:r>
              <a:rPr lang="en-US" sz="2600" i="1" spc="72" smtClean="0">
                <a:solidFill>
                  <a:srgbClr val="6E309C"/>
                </a:solidFill>
                <a:latin typeface="Arimo Italics"/>
                <a:ea typeface="Arimo Italics"/>
                <a:cs typeface="Arimo Italics"/>
                <a:sym typeface="Arimo Italics"/>
              </a:rPr>
              <a:t>. </a:t>
            </a:r>
            <a:r>
              <a:rPr lang="vi-VN" sz="2600" i="1" spc="72" smtClean="0">
                <a:solidFill>
                  <a:srgbClr val="6E309C"/>
                </a:solidFill>
                <a:latin typeface="Arimo Italics"/>
                <a:ea typeface="Arimo Italics"/>
                <a:cs typeface="Arimo Italics"/>
                <a:sym typeface="Arimo Italics"/>
              </a:rPr>
              <a:t>Cơ</a:t>
            </a:r>
            <a:r>
              <a:rPr lang="en-US" sz="2600" i="1" spc="72" smtClean="0">
                <a:solidFill>
                  <a:srgbClr val="6E309C"/>
                </a:solidFill>
                <a:latin typeface="Arimo Italics"/>
                <a:ea typeface="Arimo Italics"/>
                <a:cs typeface="Arimo Italics"/>
                <a:sym typeface="Arimo Italics"/>
              </a:rPr>
              <a:t> sở lý thuyết</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API và Web API</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20903" y="9369641"/>
            <a:ext cx="484339"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11</a:t>
            </a:r>
            <a:endParaRPr lang="en-US" sz="2600" b="1" spc="72">
              <a:solidFill>
                <a:srgbClr val="6E309C"/>
              </a:solidFill>
              <a:latin typeface="Arimo Bold"/>
              <a:ea typeface="Arimo Bold"/>
              <a:cs typeface="Arimo Bold"/>
              <a:sym typeface="Arimo Bold"/>
            </a:endParaRPr>
          </a:p>
        </p:txBody>
      </p:sp>
      <p:sp>
        <p:nvSpPr>
          <p:cNvPr id="15" name="Freeform 9"/>
          <p:cNvSpPr/>
          <p:nvPr/>
        </p:nvSpPr>
        <p:spPr>
          <a:xfrm>
            <a:off x="6659342" y="2347279"/>
            <a:ext cx="10599958" cy="5592441"/>
          </a:xfrm>
          <a:custGeom>
            <a:avLst/>
            <a:gdLst/>
            <a:ahLst/>
            <a:cxnLst/>
            <a:rect l="l" t="t" r="r" b="b"/>
            <a:pathLst>
              <a:path w="10599958" h="5592441">
                <a:moveTo>
                  <a:pt x="0" y="0"/>
                </a:moveTo>
                <a:lnTo>
                  <a:pt x="10599958" y="0"/>
                </a:lnTo>
                <a:lnTo>
                  <a:pt x="10599958" y="5592442"/>
                </a:lnTo>
                <a:lnTo>
                  <a:pt x="0" y="5592442"/>
                </a:lnTo>
                <a:lnTo>
                  <a:pt x="0" y="0"/>
                </a:lnTo>
                <a:close/>
              </a:path>
            </a:pathLst>
          </a:custGeom>
          <a:blipFill>
            <a:blip r:embed="rId2"/>
            <a:stretch>
              <a:fillRect/>
            </a:stretch>
          </a:blipFill>
        </p:spPr>
      </p:sp>
      <p:sp>
        <p:nvSpPr>
          <p:cNvPr id="16" name="TextBox 10"/>
          <p:cNvSpPr txBox="1"/>
          <p:nvPr/>
        </p:nvSpPr>
        <p:spPr>
          <a:xfrm>
            <a:off x="763112" y="3468245"/>
            <a:ext cx="5089183" cy="1481455"/>
          </a:xfrm>
          <a:prstGeom prst="rect">
            <a:avLst/>
          </a:prstGeom>
        </p:spPr>
        <p:txBody>
          <a:bodyPr lIns="0" tIns="0" rIns="0" bIns="0" rtlCol="0" anchor="t">
            <a:spAutoFit/>
          </a:bodyPr>
          <a:lstStyle/>
          <a:p>
            <a:pPr marL="0" lvl="0" indent="0" algn="just">
              <a:lnSpc>
                <a:spcPts val="3919"/>
              </a:lnSpc>
              <a:spcBef>
                <a:spcPct val="0"/>
              </a:spcBef>
            </a:pPr>
            <a:r>
              <a:rPr lang="en-US" sz="2799" b="1" u="none" strike="noStrike">
                <a:solidFill>
                  <a:srgbClr val="000000"/>
                </a:solidFill>
                <a:latin typeface="Inter Bold"/>
                <a:ea typeface="Inter Bold"/>
                <a:cs typeface="Inter Bold"/>
                <a:sym typeface="Inter Bold"/>
              </a:rPr>
              <a:t>API </a:t>
            </a:r>
            <a:r>
              <a:rPr lang="en-US" sz="2799" u="none" strike="noStrike">
                <a:solidFill>
                  <a:srgbClr val="000000"/>
                </a:solidFill>
                <a:latin typeface="Inter"/>
                <a:ea typeface="Inter"/>
                <a:cs typeface="Inter"/>
                <a:sym typeface="Inter"/>
              </a:rPr>
              <a:t>là viết tắt của "Application Programming Interface" (giao diện lập trình ứng dụng)</a:t>
            </a:r>
          </a:p>
        </p:txBody>
      </p:sp>
      <p:sp>
        <p:nvSpPr>
          <p:cNvPr id="17" name="TextBox 11"/>
          <p:cNvSpPr txBox="1"/>
          <p:nvPr/>
        </p:nvSpPr>
        <p:spPr>
          <a:xfrm>
            <a:off x="763112" y="5249104"/>
            <a:ext cx="5089183" cy="1976755"/>
          </a:xfrm>
          <a:prstGeom prst="rect">
            <a:avLst/>
          </a:prstGeom>
        </p:spPr>
        <p:txBody>
          <a:bodyPr lIns="0" tIns="0" rIns="0" bIns="0" rtlCol="0" anchor="t">
            <a:spAutoFit/>
          </a:bodyPr>
          <a:lstStyle/>
          <a:p>
            <a:pPr marL="0" lvl="0" indent="0" algn="just">
              <a:lnSpc>
                <a:spcPts val="3919"/>
              </a:lnSpc>
              <a:spcBef>
                <a:spcPct val="0"/>
              </a:spcBef>
            </a:pPr>
            <a:r>
              <a:rPr lang="en-US" sz="2799" b="1" u="none" strike="noStrike">
                <a:solidFill>
                  <a:srgbClr val="000000"/>
                </a:solidFill>
                <a:latin typeface="Inter Bold"/>
                <a:ea typeface="Inter Bold"/>
                <a:cs typeface="Inter Bold"/>
                <a:sym typeface="Inter Bold"/>
              </a:rPr>
              <a:t>Web API </a:t>
            </a:r>
            <a:r>
              <a:rPr lang="en-US" sz="2799" u="none" strike="noStrike">
                <a:solidFill>
                  <a:srgbClr val="000000"/>
                </a:solidFill>
                <a:latin typeface="Inter"/>
                <a:ea typeface="Inter"/>
                <a:cs typeface="Inter"/>
                <a:sym typeface="Inter"/>
              </a:rPr>
              <a:t>là một dạng của API được thiết kế để cho phép các ứng dụng web tương tác và giao tiếp với nhau. </a:t>
            </a:r>
          </a:p>
        </p:txBody>
      </p:sp>
    </p:spTree>
    <p:extLst>
      <p:ext uri="{BB962C8B-B14F-4D97-AF65-F5344CB8AC3E}">
        <p14:creationId xmlns:p14="http://schemas.microsoft.com/office/powerpoint/2010/main" val="3546956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3914009" cy="409575"/>
          </a:xfrm>
          <a:prstGeom prst="rect">
            <a:avLst/>
          </a:prstGeom>
        </p:spPr>
        <p:txBody>
          <a:bodyPr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2</a:t>
            </a:r>
            <a:r>
              <a:rPr lang="en-US" sz="2600" i="1" spc="72" smtClean="0">
                <a:solidFill>
                  <a:srgbClr val="6E309C"/>
                </a:solidFill>
                <a:latin typeface="Arimo Italics"/>
                <a:ea typeface="Arimo Italics"/>
                <a:cs typeface="Arimo Italics"/>
                <a:sym typeface="Arimo Italics"/>
              </a:rPr>
              <a:t>. </a:t>
            </a:r>
            <a:r>
              <a:rPr lang="vi-VN" sz="2600" i="1" spc="72" smtClean="0">
                <a:solidFill>
                  <a:srgbClr val="6E309C"/>
                </a:solidFill>
                <a:latin typeface="Arimo Italics"/>
                <a:ea typeface="Arimo Italics"/>
                <a:cs typeface="Arimo Italics"/>
                <a:sym typeface="Arimo Italics"/>
              </a:rPr>
              <a:t>Cơ</a:t>
            </a:r>
            <a:r>
              <a:rPr lang="en-US" sz="2600" i="1" spc="72" smtClean="0">
                <a:solidFill>
                  <a:srgbClr val="6E309C"/>
                </a:solidFill>
                <a:latin typeface="Arimo Italics"/>
                <a:ea typeface="Arimo Italics"/>
                <a:cs typeface="Arimo Italics"/>
                <a:sym typeface="Arimo Italics"/>
              </a:rPr>
              <a:t> sở lý thuyết</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RESTful API</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47029" y="9369641"/>
            <a:ext cx="458213"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12</a:t>
            </a:r>
            <a:endParaRPr lang="en-US" sz="2600" b="1" spc="72">
              <a:solidFill>
                <a:srgbClr val="6E309C"/>
              </a:solidFill>
              <a:latin typeface="Arimo Bold"/>
              <a:ea typeface="Arimo Bold"/>
              <a:cs typeface="Arimo Bold"/>
              <a:sym typeface="Arimo Bold"/>
            </a:endParaRPr>
          </a:p>
        </p:txBody>
      </p:sp>
      <p:sp>
        <p:nvSpPr>
          <p:cNvPr id="11" name="Freeform 9"/>
          <p:cNvSpPr/>
          <p:nvPr/>
        </p:nvSpPr>
        <p:spPr>
          <a:xfrm>
            <a:off x="7284271" y="1868811"/>
            <a:ext cx="10693682" cy="6416209"/>
          </a:xfrm>
          <a:custGeom>
            <a:avLst/>
            <a:gdLst/>
            <a:ahLst/>
            <a:cxnLst/>
            <a:rect l="l" t="t" r="r" b="b"/>
            <a:pathLst>
              <a:path w="10693682" h="6416209">
                <a:moveTo>
                  <a:pt x="0" y="0"/>
                </a:moveTo>
                <a:lnTo>
                  <a:pt x="10693682" y="0"/>
                </a:lnTo>
                <a:lnTo>
                  <a:pt x="10693682" y="6416209"/>
                </a:lnTo>
                <a:lnTo>
                  <a:pt x="0" y="6416209"/>
                </a:lnTo>
                <a:lnTo>
                  <a:pt x="0" y="0"/>
                </a:lnTo>
                <a:close/>
              </a:path>
            </a:pathLst>
          </a:custGeom>
          <a:blipFill>
            <a:blip r:embed="rId2"/>
            <a:stretch>
              <a:fillRect/>
            </a:stretch>
          </a:blipFill>
        </p:spPr>
      </p:sp>
      <p:sp>
        <p:nvSpPr>
          <p:cNvPr id="12" name="TextBox 10"/>
          <p:cNvSpPr txBox="1"/>
          <p:nvPr/>
        </p:nvSpPr>
        <p:spPr>
          <a:xfrm>
            <a:off x="786254" y="3107145"/>
            <a:ext cx="5743259" cy="986155"/>
          </a:xfrm>
          <a:prstGeom prst="rect">
            <a:avLst/>
          </a:prstGeom>
        </p:spPr>
        <p:txBody>
          <a:bodyPr lIns="0" tIns="0" rIns="0" bIns="0" rtlCol="0" anchor="t">
            <a:spAutoFit/>
          </a:bodyPr>
          <a:lstStyle/>
          <a:p>
            <a:pPr marL="0" lvl="0" indent="0" algn="just">
              <a:lnSpc>
                <a:spcPts val="3919"/>
              </a:lnSpc>
              <a:spcBef>
                <a:spcPct val="0"/>
              </a:spcBef>
            </a:pPr>
            <a:r>
              <a:rPr lang="en-US" sz="2799" b="1">
                <a:solidFill>
                  <a:srgbClr val="000000"/>
                </a:solidFill>
                <a:latin typeface="Inter Bold"/>
                <a:ea typeface="Inter Bold"/>
                <a:cs typeface="Inter Bold"/>
                <a:sym typeface="Inter Bold"/>
              </a:rPr>
              <a:t>REST</a:t>
            </a:r>
            <a:r>
              <a:rPr lang="en-US" sz="2799">
                <a:solidFill>
                  <a:srgbClr val="000000"/>
                </a:solidFill>
                <a:latin typeface="Inter"/>
                <a:ea typeface="Inter"/>
                <a:cs typeface="Inter"/>
                <a:sym typeface="Inter"/>
              </a:rPr>
              <a:t> l</a:t>
            </a:r>
            <a:r>
              <a:rPr lang="en-US" sz="2799" u="none" strike="noStrike">
                <a:solidFill>
                  <a:srgbClr val="000000"/>
                </a:solidFill>
                <a:latin typeface="Inter"/>
                <a:ea typeface="Inter"/>
                <a:cs typeface="Inter"/>
                <a:sym typeface="Inter"/>
              </a:rPr>
              <a:t>à một phong cách kiến trúc được sử dụng để xây dựng API.</a:t>
            </a:r>
          </a:p>
        </p:txBody>
      </p:sp>
      <p:sp>
        <p:nvSpPr>
          <p:cNvPr id="13" name="TextBox 11"/>
          <p:cNvSpPr txBox="1"/>
          <p:nvPr/>
        </p:nvSpPr>
        <p:spPr>
          <a:xfrm>
            <a:off x="786254" y="4302851"/>
            <a:ext cx="6578304" cy="1481455"/>
          </a:xfrm>
          <a:prstGeom prst="rect">
            <a:avLst/>
          </a:prstGeom>
        </p:spPr>
        <p:txBody>
          <a:bodyPr lIns="0" tIns="0" rIns="0" bIns="0" rtlCol="0" anchor="t">
            <a:spAutoFit/>
          </a:bodyPr>
          <a:lstStyle/>
          <a:p>
            <a:pPr marL="0" lvl="0" indent="0" algn="just">
              <a:lnSpc>
                <a:spcPts val="3919"/>
              </a:lnSpc>
              <a:spcBef>
                <a:spcPct val="0"/>
              </a:spcBef>
            </a:pPr>
            <a:r>
              <a:rPr lang="en-US" sz="2799" u="none" strike="noStrike">
                <a:solidFill>
                  <a:srgbClr val="000000"/>
                </a:solidFill>
                <a:latin typeface="Inter"/>
                <a:ea typeface="Inter"/>
                <a:cs typeface="Inter"/>
                <a:sym typeface="Inter"/>
              </a:rPr>
              <a:t>REST dựa trên các nguyên tắc đơn giản, không trạng thái và thao tác tài nguyên qua HTTP</a:t>
            </a:r>
          </a:p>
        </p:txBody>
      </p:sp>
      <p:sp>
        <p:nvSpPr>
          <p:cNvPr id="14" name="TextBox 12"/>
          <p:cNvSpPr txBox="1"/>
          <p:nvPr/>
        </p:nvSpPr>
        <p:spPr>
          <a:xfrm>
            <a:off x="786254" y="5993856"/>
            <a:ext cx="6578304" cy="986155"/>
          </a:xfrm>
          <a:prstGeom prst="rect">
            <a:avLst/>
          </a:prstGeom>
        </p:spPr>
        <p:txBody>
          <a:bodyPr lIns="0" tIns="0" rIns="0" bIns="0" rtlCol="0" anchor="t">
            <a:spAutoFit/>
          </a:bodyPr>
          <a:lstStyle/>
          <a:p>
            <a:pPr marL="0" lvl="0" indent="0" algn="just">
              <a:lnSpc>
                <a:spcPts val="3919"/>
              </a:lnSpc>
              <a:spcBef>
                <a:spcPct val="0"/>
              </a:spcBef>
            </a:pPr>
            <a:r>
              <a:rPr lang="en-US" sz="2799" b="1" u="none" strike="noStrike">
                <a:solidFill>
                  <a:srgbClr val="000000"/>
                </a:solidFill>
                <a:latin typeface="Inter Bold"/>
                <a:ea typeface="Inter Bold"/>
                <a:cs typeface="Inter Bold"/>
                <a:sym typeface="Inter Bold"/>
              </a:rPr>
              <a:t>RESTful</a:t>
            </a:r>
            <a:r>
              <a:rPr lang="en-US" sz="2799" u="none" strike="noStrike">
                <a:solidFill>
                  <a:srgbClr val="000000"/>
                </a:solidFill>
                <a:latin typeface="Inter"/>
                <a:ea typeface="Inter"/>
                <a:cs typeface="Inter"/>
                <a:sym typeface="Inter"/>
              </a:rPr>
              <a:t> là việc triển khai API tuân thủ đầy đủ các nguyên tắc của REST</a:t>
            </a:r>
          </a:p>
        </p:txBody>
      </p:sp>
    </p:spTree>
    <p:extLst>
      <p:ext uri="{BB962C8B-B14F-4D97-AF65-F5344CB8AC3E}">
        <p14:creationId xmlns:p14="http://schemas.microsoft.com/office/powerpoint/2010/main" val="3106588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47029" y="9369641"/>
            <a:ext cx="458213"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13</a:t>
            </a:r>
            <a:endParaRPr lang="en-US" sz="2600" b="1" spc="72">
              <a:solidFill>
                <a:srgbClr val="6E309C"/>
              </a:solidFill>
              <a:latin typeface="Arimo Bold"/>
              <a:ea typeface="Arimo Bold"/>
              <a:cs typeface="Arimo Bold"/>
              <a:sym typeface="Arimo Bold"/>
            </a:endParaRPr>
          </a:p>
        </p:txBody>
      </p:sp>
      <p:sp>
        <p:nvSpPr>
          <p:cNvPr id="38" name="TextBox 2"/>
          <p:cNvSpPr txBox="1"/>
          <p:nvPr/>
        </p:nvSpPr>
        <p:spPr>
          <a:xfrm>
            <a:off x="3265544" y="4758779"/>
            <a:ext cx="11326756" cy="769441"/>
          </a:xfrm>
          <a:prstGeom prst="rect">
            <a:avLst/>
          </a:prstGeom>
        </p:spPr>
        <p:txBody>
          <a:bodyPr wrap="square" lIns="0" tIns="0" rIns="0" bIns="0" rtlCol="0" anchor="t">
            <a:spAutoFit/>
          </a:bodyPr>
          <a:lstStyle/>
          <a:p>
            <a:pPr marL="0" lvl="0" indent="0" algn="ctr">
              <a:lnSpc>
                <a:spcPts val="6000"/>
              </a:lnSpc>
              <a:spcBef>
                <a:spcPct val="0"/>
              </a:spcBef>
            </a:pPr>
            <a:r>
              <a:rPr lang="en-US" sz="5000" b="1" spc="138">
                <a:solidFill>
                  <a:srgbClr val="6E309C">
                    <a:alpha val="81961"/>
                  </a:srgbClr>
                </a:solidFill>
                <a:latin typeface="Open Sans Bold"/>
                <a:ea typeface="Open Sans Bold"/>
                <a:cs typeface="Open Sans Bold"/>
                <a:sym typeface="Open Sans Bold"/>
              </a:rPr>
              <a:t>3</a:t>
            </a:r>
            <a:r>
              <a:rPr lang="en-US" sz="5000" b="1" spc="138" smtClean="0">
                <a:solidFill>
                  <a:srgbClr val="6E309C">
                    <a:alpha val="81961"/>
                  </a:srgbClr>
                </a:solidFill>
                <a:latin typeface="Open Sans Bold"/>
                <a:ea typeface="Open Sans Bold"/>
                <a:cs typeface="Open Sans Bold"/>
                <a:sym typeface="Open Sans Bold"/>
              </a:rPr>
              <a:t>. HIỆN THỰC HÓA NGHIÊN CỨU</a:t>
            </a:r>
            <a:endParaRPr lang="en-US" sz="5000" b="1" spc="138">
              <a:solidFill>
                <a:srgbClr val="6E309C">
                  <a:alpha val="81961"/>
                </a:srgbClr>
              </a:solidFill>
              <a:latin typeface="Open Sans Bold"/>
              <a:ea typeface="Open Sans Bold"/>
              <a:cs typeface="Open Sans Bold"/>
              <a:sym typeface="Open Sans Bold"/>
            </a:endParaRPr>
          </a:p>
        </p:txBody>
      </p:sp>
      <p:sp>
        <p:nvSpPr>
          <p:cNvPr id="39" name="AutoShape 4"/>
          <p:cNvSpPr/>
          <p:nvPr/>
        </p:nvSpPr>
        <p:spPr>
          <a:xfrm>
            <a:off x="1028706" y="1023938"/>
            <a:ext cx="14662846" cy="4762"/>
          </a:xfrm>
          <a:prstGeom prst="line">
            <a:avLst/>
          </a:prstGeom>
          <a:ln w="19050" cap="rnd">
            <a:solidFill>
              <a:srgbClr val="6E309C"/>
            </a:solidFill>
            <a:prstDash val="solid"/>
            <a:headEnd type="none" w="sm" len="sm"/>
            <a:tailEnd type="none" w="sm" len="sm"/>
          </a:ln>
        </p:spPr>
      </p:sp>
      <p:pic>
        <p:nvPicPr>
          <p:cNvPr id="43" name="Picture 42" descr="tvu"/>
          <p:cNvPicPr>
            <a:picLocks noChangeAspect="1"/>
          </p:cNvPicPr>
          <p:nvPr/>
        </p:nvPicPr>
        <p:blipFill>
          <a:blip r:embed="rId2"/>
          <a:srcRect l="20639" t="20611" r="20250" b="20046"/>
          <a:stretch>
            <a:fillRect/>
          </a:stretch>
        </p:blipFill>
        <p:spPr>
          <a:xfrm>
            <a:off x="16695420" y="706268"/>
            <a:ext cx="804049" cy="793784"/>
          </a:xfrm>
          <a:prstGeom prst="rect">
            <a:avLst/>
          </a:prstGeom>
        </p:spPr>
      </p:pic>
    </p:spTree>
    <p:extLst>
      <p:ext uri="{BB962C8B-B14F-4D97-AF65-F5344CB8AC3E}">
        <p14:creationId xmlns:p14="http://schemas.microsoft.com/office/powerpoint/2010/main" val="204863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smtClean="0">
                <a:solidFill>
                  <a:srgbClr val="6E309C"/>
                </a:solidFill>
                <a:latin typeface="Arimo Italics"/>
                <a:ea typeface="Arimo Italics"/>
                <a:cs typeface="Arimo Italics"/>
                <a:sym typeface="Arimo Italics"/>
              </a:rPr>
              <a:t>3. Hiện thực hóa nghiên cứu</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Kiến trúc hệ thống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60091" y="9369641"/>
            <a:ext cx="445151"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14</a:t>
            </a:r>
            <a:endParaRPr lang="en-US" sz="2600" b="1" spc="72">
              <a:solidFill>
                <a:srgbClr val="6E309C"/>
              </a:solidFill>
              <a:latin typeface="Arimo Bold"/>
              <a:ea typeface="Arimo Bold"/>
              <a:cs typeface="Arimo Bold"/>
              <a:sym typeface="Arimo Bold"/>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7665" y="1822012"/>
            <a:ext cx="12969262" cy="7033733"/>
          </a:xfrm>
          <a:prstGeom prst="rect">
            <a:avLst/>
          </a:prstGeom>
        </p:spPr>
      </p:pic>
    </p:spTree>
    <p:extLst>
      <p:ext uri="{BB962C8B-B14F-4D97-AF65-F5344CB8AC3E}">
        <p14:creationId xmlns:p14="http://schemas.microsoft.com/office/powerpoint/2010/main" val="1174523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smtClean="0">
                <a:solidFill>
                  <a:srgbClr val="6E309C"/>
                </a:solidFill>
                <a:latin typeface="Arimo Italics"/>
                <a:ea typeface="Arimo Italics"/>
                <a:cs typeface="Arimo Italics"/>
                <a:sym typeface="Arimo Italics"/>
              </a:rPr>
              <a:t>3. Hiện thực hóa nghiên cứu</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Lược đồ cơ sở dữ liệu</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86217" y="9369641"/>
            <a:ext cx="419025"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15</a:t>
            </a:r>
            <a:endParaRPr lang="en-US" sz="2600" b="1" spc="72">
              <a:solidFill>
                <a:srgbClr val="6E309C"/>
              </a:solidFill>
              <a:latin typeface="Arimo Bold"/>
              <a:ea typeface="Arimo Bold"/>
              <a:cs typeface="Arimo Bold"/>
              <a:sym typeface="Arimo Bold"/>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7235" y="1744471"/>
            <a:ext cx="9601199" cy="7111274"/>
          </a:xfrm>
          <a:prstGeom prst="rect">
            <a:avLst/>
          </a:prstGeom>
        </p:spPr>
      </p:pic>
    </p:spTree>
    <p:extLst>
      <p:ext uri="{BB962C8B-B14F-4D97-AF65-F5344CB8AC3E}">
        <p14:creationId xmlns:p14="http://schemas.microsoft.com/office/powerpoint/2010/main" val="2354458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smtClean="0">
                <a:solidFill>
                  <a:srgbClr val="6E309C"/>
                </a:solidFill>
                <a:latin typeface="Arimo Italics"/>
                <a:ea typeface="Arimo Italics"/>
                <a:cs typeface="Arimo Italics"/>
                <a:sym typeface="Arimo Italics"/>
              </a:rPr>
              <a:t>3. Hiện thực hóa nghiên cứu</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Sơ đồ use-case</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20903" y="9369641"/>
            <a:ext cx="484339"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16</a:t>
            </a:r>
            <a:endParaRPr lang="en-US" sz="2600" b="1" spc="72">
              <a:solidFill>
                <a:srgbClr val="6E309C"/>
              </a:solidFill>
              <a:latin typeface="Arimo Bold"/>
              <a:ea typeface="Arimo Bold"/>
              <a:cs typeface="Arimo Bold"/>
              <a:sym typeface="Arimo Bold"/>
            </a:endParaRPr>
          </a:p>
        </p:txBody>
      </p:sp>
      <p:pic>
        <p:nvPicPr>
          <p:cNvPr id="3074" name="Picture 2" descr="use c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1323" y="1878717"/>
            <a:ext cx="12591655" cy="685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2884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20903" y="9369641"/>
            <a:ext cx="484339"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17</a:t>
            </a:r>
            <a:endParaRPr lang="en-US" sz="2600" b="1" spc="72">
              <a:solidFill>
                <a:srgbClr val="6E309C"/>
              </a:solidFill>
              <a:latin typeface="Arimo Bold"/>
              <a:ea typeface="Arimo Bold"/>
              <a:cs typeface="Arimo Bold"/>
              <a:sym typeface="Arimo Bold"/>
            </a:endParaRPr>
          </a:p>
        </p:txBody>
      </p:sp>
      <p:sp>
        <p:nvSpPr>
          <p:cNvPr id="38" name="TextBox 2"/>
          <p:cNvSpPr txBox="1"/>
          <p:nvPr/>
        </p:nvSpPr>
        <p:spPr>
          <a:xfrm>
            <a:off x="3265544" y="4758779"/>
            <a:ext cx="11326756" cy="769441"/>
          </a:xfrm>
          <a:prstGeom prst="rect">
            <a:avLst/>
          </a:prstGeom>
        </p:spPr>
        <p:txBody>
          <a:bodyPr wrap="square" lIns="0" tIns="0" rIns="0" bIns="0" rtlCol="0" anchor="t">
            <a:spAutoFit/>
          </a:bodyPr>
          <a:lstStyle/>
          <a:p>
            <a:pPr marL="0" lvl="0" indent="0" algn="ctr">
              <a:lnSpc>
                <a:spcPts val="6000"/>
              </a:lnSpc>
              <a:spcBef>
                <a:spcPct val="0"/>
              </a:spcBef>
            </a:pPr>
            <a:r>
              <a:rPr lang="en-US" sz="5000" b="1" spc="138">
                <a:solidFill>
                  <a:srgbClr val="6E309C">
                    <a:alpha val="81961"/>
                  </a:srgbClr>
                </a:solidFill>
                <a:latin typeface="Open Sans Bold"/>
                <a:ea typeface="Open Sans Bold"/>
                <a:cs typeface="Open Sans Bold"/>
                <a:sym typeface="Open Sans Bold"/>
              </a:rPr>
              <a:t>4</a:t>
            </a:r>
            <a:r>
              <a:rPr lang="en-US" sz="5000" b="1" spc="138" smtClean="0">
                <a:solidFill>
                  <a:srgbClr val="6E309C">
                    <a:alpha val="81961"/>
                  </a:srgbClr>
                </a:solidFill>
                <a:latin typeface="Open Sans Bold"/>
                <a:ea typeface="Open Sans Bold"/>
                <a:cs typeface="Open Sans Bold"/>
                <a:sym typeface="Open Sans Bold"/>
              </a:rPr>
              <a:t>. KẾT QUẢ THỰC NGHIỆM</a:t>
            </a:r>
            <a:endParaRPr lang="en-US" sz="5000" b="1" spc="138">
              <a:solidFill>
                <a:srgbClr val="6E309C">
                  <a:alpha val="81961"/>
                </a:srgbClr>
              </a:solidFill>
              <a:latin typeface="Open Sans Bold"/>
              <a:ea typeface="Open Sans Bold"/>
              <a:cs typeface="Open Sans Bold"/>
              <a:sym typeface="Open Sans Bold"/>
            </a:endParaRPr>
          </a:p>
        </p:txBody>
      </p:sp>
      <p:sp>
        <p:nvSpPr>
          <p:cNvPr id="39" name="AutoShape 4"/>
          <p:cNvSpPr/>
          <p:nvPr/>
        </p:nvSpPr>
        <p:spPr>
          <a:xfrm>
            <a:off x="1028706" y="1023938"/>
            <a:ext cx="14662846" cy="4762"/>
          </a:xfrm>
          <a:prstGeom prst="line">
            <a:avLst/>
          </a:prstGeom>
          <a:ln w="19050" cap="rnd">
            <a:solidFill>
              <a:srgbClr val="6E309C"/>
            </a:solidFill>
            <a:prstDash val="solid"/>
            <a:headEnd type="none" w="sm" len="sm"/>
            <a:tailEnd type="none" w="sm" len="sm"/>
          </a:ln>
        </p:spPr>
      </p:sp>
      <p:pic>
        <p:nvPicPr>
          <p:cNvPr id="43" name="Picture 42" descr="tvu"/>
          <p:cNvPicPr>
            <a:picLocks noChangeAspect="1"/>
          </p:cNvPicPr>
          <p:nvPr/>
        </p:nvPicPr>
        <p:blipFill>
          <a:blip r:embed="rId2"/>
          <a:srcRect l="20639" t="20611" r="20250" b="20046"/>
          <a:stretch>
            <a:fillRect/>
          </a:stretch>
        </p:blipFill>
        <p:spPr>
          <a:xfrm>
            <a:off x="16695420" y="706268"/>
            <a:ext cx="804049" cy="793784"/>
          </a:xfrm>
          <a:prstGeom prst="rect">
            <a:avLst/>
          </a:prstGeom>
        </p:spPr>
      </p:pic>
    </p:spTree>
    <p:extLst>
      <p:ext uri="{BB962C8B-B14F-4D97-AF65-F5344CB8AC3E}">
        <p14:creationId xmlns:p14="http://schemas.microsoft.com/office/powerpoint/2010/main" val="3403292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4</a:t>
            </a:r>
            <a:r>
              <a:rPr lang="en-US" sz="2600" i="1" spc="72" smtClean="0">
                <a:solidFill>
                  <a:srgbClr val="6E309C"/>
                </a:solidFill>
                <a:latin typeface="Arimo Italics"/>
                <a:ea typeface="Arimo Italics"/>
                <a:cs typeface="Arimo Italics"/>
                <a:sym typeface="Arimo Italics"/>
              </a:rPr>
              <a:t>. Kết quả thực nghiệm</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quả thực nghiệm chức năng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33966" y="9369641"/>
            <a:ext cx="471276"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18</a:t>
            </a:r>
            <a:endParaRPr lang="en-US" sz="2600" b="1" spc="72">
              <a:solidFill>
                <a:srgbClr val="6E309C"/>
              </a:solidFill>
              <a:latin typeface="Arimo Bold"/>
              <a:ea typeface="Arimo Bold"/>
              <a:cs typeface="Arimo Bold"/>
              <a:sym typeface="Arimo Bold"/>
            </a:endParaRPr>
          </a:p>
        </p:txBody>
      </p:sp>
      <p:pic>
        <p:nvPicPr>
          <p:cNvPr id="4098" name="Picture 20" descr="GD_DangNhapNguoiTimVi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1585" y="2902078"/>
            <a:ext cx="12436554" cy="569064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5820416" y="1954470"/>
            <a:ext cx="6643760" cy="500137"/>
          </a:xfrm>
          <a:prstGeom prst="rect">
            <a:avLst/>
          </a:prstGeom>
        </p:spPr>
        <p:txBody>
          <a:bodyPr lIns="0" tIns="0" rIns="0" bIns="0" rtlCol="0" anchor="t">
            <a:spAutoFit/>
          </a:bodyPr>
          <a:lstStyle/>
          <a:p>
            <a:pPr algn="ctr">
              <a:lnSpc>
                <a:spcPts val="3919"/>
              </a:lnSpc>
              <a:spcBef>
                <a:spcPct val="0"/>
              </a:spcBef>
            </a:pPr>
            <a:r>
              <a:rPr lang="en-US" sz="2799" i="1">
                <a:solidFill>
                  <a:srgbClr val="000000"/>
                </a:solidFill>
                <a:latin typeface="Open Sans Italics"/>
                <a:ea typeface="Open Sans Italics"/>
                <a:cs typeface="Open Sans Italics"/>
                <a:sym typeface="Open Sans Italics"/>
              </a:rPr>
              <a:t>Giao diện trang </a:t>
            </a:r>
            <a:r>
              <a:rPr lang="en-US" sz="2799" i="1" smtClean="0">
                <a:solidFill>
                  <a:srgbClr val="000000"/>
                </a:solidFill>
                <a:latin typeface="Open Sans Italics"/>
                <a:ea typeface="Open Sans Italics"/>
                <a:cs typeface="Open Sans Italics"/>
                <a:sym typeface="Open Sans Italics"/>
              </a:rPr>
              <a:t>đăng nhập ứng viên</a:t>
            </a:r>
            <a:endParaRPr lang="en-US" sz="2799" i="1">
              <a:solidFill>
                <a:srgbClr val="000000"/>
              </a:solidFill>
              <a:latin typeface="Open Sans Italics"/>
              <a:ea typeface="Open Sans Italics"/>
              <a:cs typeface="Open Sans Italics"/>
              <a:sym typeface="Open Sans Italics"/>
            </a:endParaRPr>
          </a:p>
        </p:txBody>
      </p:sp>
    </p:spTree>
    <p:extLst>
      <p:ext uri="{BB962C8B-B14F-4D97-AF65-F5344CB8AC3E}">
        <p14:creationId xmlns:p14="http://schemas.microsoft.com/office/powerpoint/2010/main" val="1078224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4</a:t>
            </a:r>
            <a:r>
              <a:rPr lang="en-US" sz="2600" i="1" spc="72" smtClean="0">
                <a:solidFill>
                  <a:srgbClr val="6E309C"/>
                </a:solidFill>
                <a:latin typeface="Arimo Italics"/>
                <a:ea typeface="Arimo Italics"/>
                <a:cs typeface="Arimo Italics"/>
                <a:sym typeface="Arimo Italics"/>
              </a:rPr>
              <a:t>. Kết quả thực nghiệm</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quả thực nghiệm chức năng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112343" y="9369641"/>
            <a:ext cx="392899"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19</a:t>
            </a:r>
            <a:endParaRPr lang="en-US" sz="2600" b="1" spc="72">
              <a:solidFill>
                <a:srgbClr val="6E309C"/>
              </a:solidFill>
              <a:latin typeface="Arimo Bold"/>
              <a:ea typeface="Arimo Bold"/>
              <a:cs typeface="Arimo Bold"/>
              <a:sym typeface="Arimo Bold"/>
            </a:endParaRPr>
          </a:p>
        </p:txBody>
      </p:sp>
      <p:sp>
        <p:nvSpPr>
          <p:cNvPr id="10" name="TextBox 9"/>
          <p:cNvSpPr txBox="1"/>
          <p:nvPr/>
        </p:nvSpPr>
        <p:spPr>
          <a:xfrm>
            <a:off x="5820416" y="1954470"/>
            <a:ext cx="6643760" cy="500137"/>
          </a:xfrm>
          <a:prstGeom prst="rect">
            <a:avLst/>
          </a:prstGeom>
        </p:spPr>
        <p:txBody>
          <a:bodyPr lIns="0" tIns="0" rIns="0" bIns="0" rtlCol="0" anchor="t">
            <a:spAutoFit/>
          </a:bodyPr>
          <a:lstStyle/>
          <a:p>
            <a:pPr algn="ctr">
              <a:lnSpc>
                <a:spcPts val="3919"/>
              </a:lnSpc>
              <a:spcBef>
                <a:spcPct val="0"/>
              </a:spcBef>
            </a:pPr>
            <a:r>
              <a:rPr lang="en-US" sz="2799" i="1">
                <a:solidFill>
                  <a:srgbClr val="000000"/>
                </a:solidFill>
                <a:latin typeface="Open Sans Italics"/>
                <a:ea typeface="Open Sans Italics"/>
                <a:cs typeface="Open Sans Italics"/>
                <a:sym typeface="Open Sans Italics"/>
              </a:rPr>
              <a:t>Giao diện trang </a:t>
            </a:r>
            <a:r>
              <a:rPr lang="en-US" sz="2799" i="1" smtClean="0">
                <a:solidFill>
                  <a:srgbClr val="000000"/>
                </a:solidFill>
                <a:latin typeface="Open Sans Italics"/>
                <a:ea typeface="Open Sans Italics"/>
                <a:cs typeface="Open Sans Italics"/>
                <a:sym typeface="Open Sans Italics"/>
              </a:rPr>
              <a:t>đăng ký ứng viên</a:t>
            </a:r>
            <a:endParaRPr lang="en-US" sz="2799" i="1">
              <a:solidFill>
                <a:srgbClr val="000000"/>
              </a:solidFill>
              <a:latin typeface="Open Sans Italics"/>
              <a:ea typeface="Open Sans Italics"/>
              <a:cs typeface="Open Sans Italics"/>
              <a:sym typeface="Open Sans Italics"/>
            </a:endParaRPr>
          </a:p>
        </p:txBody>
      </p:sp>
      <p:pic>
        <p:nvPicPr>
          <p:cNvPr id="5122" name="Picture 21" descr="GD_DangKyNguoiTimVi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4786" y="2819072"/>
            <a:ext cx="12452436" cy="569791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356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4</a:t>
            </a:r>
            <a:r>
              <a:rPr lang="en-US" sz="2600" i="1" spc="72" smtClean="0">
                <a:solidFill>
                  <a:srgbClr val="6E309C"/>
                </a:solidFill>
                <a:latin typeface="Arimo Italics"/>
                <a:ea typeface="Arimo Italics"/>
                <a:cs typeface="Arimo Italics"/>
                <a:sym typeface="Arimo Italics"/>
              </a:rPr>
              <a:t>. Kết quả thực nghiệm</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quả thực nghiệm chức năng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47029" y="9369641"/>
            <a:ext cx="458213"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20</a:t>
            </a:r>
            <a:endParaRPr lang="en-US" sz="2600" b="1" spc="72">
              <a:solidFill>
                <a:srgbClr val="6E309C"/>
              </a:solidFill>
              <a:latin typeface="Arimo Bold"/>
              <a:ea typeface="Arimo Bold"/>
              <a:cs typeface="Arimo Bold"/>
              <a:sym typeface="Arimo Bold"/>
            </a:endParaRPr>
          </a:p>
        </p:txBody>
      </p:sp>
      <p:sp>
        <p:nvSpPr>
          <p:cNvPr id="10" name="TextBox 9"/>
          <p:cNvSpPr txBox="1"/>
          <p:nvPr/>
        </p:nvSpPr>
        <p:spPr>
          <a:xfrm>
            <a:off x="5820415" y="1954470"/>
            <a:ext cx="7294693" cy="500137"/>
          </a:xfrm>
          <a:prstGeom prst="rect">
            <a:avLst/>
          </a:prstGeom>
        </p:spPr>
        <p:txBody>
          <a:bodyPr wrap="square" lIns="0" tIns="0" rIns="0" bIns="0" rtlCol="0" anchor="t">
            <a:spAutoFit/>
          </a:bodyPr>
          <a:lstStyle/>
          <a:p>
            <a:pPr algn="ctr">
              <a:lnSpc>
                <a:spcPts val="3919"/>
              </a:lnSpc>
              <a:spcBef>
                <a:spcPct val="0"/>
              </a:spcBef>
            </a:pPr>
            <a:r>
              <a:rPr lang="en-US" sz="2799" i="1">
                <a:solidFill>
                  <a:srgbClr val="000000"/>
                </a:solidFill>
                <a:latin typeface="Open Sans Italics"/>
                <a:ea typeface="Open Sans Italics"/>
                <a:cs typeface="Open Sans Italics"/>
                <a:sym typeface="Open Sans Italics"/>
              </a:rPr>
              <a:t>Giao diện trang </a:t>
            </a:r>
            <a:r>
              <a:rPr lang="en-US" sz="2799" i="1" smtClean="0">
                <a:solidFill>
                  <a:srgbClr val="000000"/>
                </a:solidFill>
                <a:latin typeface="Open Sans Italics"/>
                <a:ea typeface="Open Sans Italics"/>
                <a:cs typeface="Open Sans Italics"/>
                <a:sym typeface="Open Sans Italics"/>
              </a:rPr>
              <a:t>đăng nhập nhà tuyển dụng</a:t>
            </a:r>
            <a:endParaRPr lang="en-US" sz="2799" i="1">
              <a:solidFill>
                <a:srgbClr val="000000"/>
              </a:solidFill>
              <a:latin typeface="Open Sans Italics"/>
              <a:ea typeface="Open Sans Italics"/>
              <a:cs typeface="Open Sans Italics"/>
              <a:sym typeface="Open Sans Italics"/>
            </a:endParaRPr>
          </a:p>
        </p:txBody>
      </p:sp>
      <p:pic>
        <p:nvPicPr>
          <p:cNvPr id="6146" name="Picture 22" descr="GD_DangNhapNhaTuyenDu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036" y="2814865"/>
            <a:ext cx="12394519" cy="568905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738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4</a:t>
            </a:r>
            <a:r>
              <a:rPr lang="en-US" sz="2600" i="1" spc="72" smtClean="0">
                <a:solidFill>
                  <a:srgbClr val="6E309C"/>
                </a:solidFill>
                <a:latin typeface="Arimo Italics"/>
                <a:ea typeface="Arimo Italics"/>
                <a:cs typeface="Arimo Italics"/>
                <a:sym typeface="Arimo Italics"/>
              </a:rPr>
              <a:t>. Kết quả thực nghiệm</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quả thực nghiệm chức năng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33966" y="9369641"/>
            <a:ext cx="471276"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21</a:t>
            </a:r>
            <a:endParaRPr lang="en-US" sz="2600" b="1" spc="72">
              <a:solidFill>
                <a:srgbClr val="6E309C"/>
              </a:solidFill>
              <a:latin typeface="Arimo Bold"/>
              <a:ea typeface="Arimo Bold"/>
              <a:cs typeface="Arimo Bold"/>
              <a:sym typeface="Arimo Bold"/>
            </a:endParaRPr>
          </a:p>
        </p:txBody>
      </p:sp>
      <p:sp>
        <p:nvSpPr>
          <p:cNvPr id="10" name="TextBox 9"/>
          <p:cNvSpPr txBox="1"/>
          <p:nvPr/>
        </p:nvSpPr>
        <p:spPr>
          <a:xfrm>
            <a:off x="5820415" y="1954470"/>
            <a:ext cx="7294693" cy="500137"/>
          </a:xfrm>
          <a:prstGeom prst="rect">
            <a:avLst/>
          </a:prstGeom>
        </p:spPr>
        <p:txBody>
          <a:bodyPr wrap="square" lIns="0" tIns="0" rIns="0" bIns="0" rtlCol="0" anchor="t">
            <a:spAutoFit/>
          </a:bodyPr>
          <a:lstStyle/>
          <a:p>
            <a:pPr algn="ctr">
              <a:lnSpc>
                <a:spcPts val="3919"/>
              </a:lnSpc>
              <a:spcBef>
                <a:spcPct val="0"/>
              </a:spcBef>
            </a:pPr>
            <a:r>
              <a:rPr lang="en-US" sz="2799" i="1">
                <a:solidFill>
                  <a:srgbClr val="000000"/>
                </a:solidFill>
                <a:latin typeface="Open Sans Italics"/>
                <a:ea typeface="Open Sans Italics"/>
                <a:cs typeface="Open Sans Italics"/>
                <a:sym typeface="Open Sans Italics"/>
              </a:rPr>
              <a:t>Giao diện trang </a:t>
            </a:r>
            <a:r>
              <a:rPr lang="en-US" sz="2799" i="1" smtClean="0">
                <a:solidFill>
                  <a:srgbClr val="000000"/>
                </a:solidFill>
                <a:latin typeface="Open Sans Italics"/>
                <a:ea typeface="Open Sans Italics"/>
                <a:cs typeface="Open Sans Italics"/>
                <a:sym typeface="Open Sans Italics"/>
              </a:rPr>
              <a:t>đăng ký nhà tuyển dụng</a:t>
            </a:r>
            <a:endParaRPr lang="en-US" sz="2799" i="1">
              <a:solidFill>
                <a:srgbClr val="000000"/>
              </a:solidFill>
              <a:latin typeface="Open Sans Italics"/>
              <a:ea typeface="Open Sans Italics"/>
              <a:cs typeface="Open Sans Italics"/>
              <a:sym typeface="Open Sans Italics"/>
            </a:endParaRPr>
          </a:p>
        </p:txBody>
      </p:sp>
      <p:pic>
        <p:nvPicPr>
          <p:cNvPr id="7170" name="Picture 23" descr="GD_DangKyNhaTuyenDu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365" y="2920885"/>
            <a:ext cx="12458791" cy="575403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643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4</a:t>
            </a:r>
            <a:r>
              <a:rPr lang="en-US" sz="2600" i="1" spc="72" smtClean="0">
                <a:solidFill>
                  <a:srgbClr val="6E309C"/>
                </a:solidFill>
                <a:latin typeface="Arimo Italics"/>
                <a:ea typeface="Arimo Italics"/>
                <a:cs typeface="Arimo Italics"/>
                <a:sym typeface="Arimo Italics"/>
              </a:rPr>
              <a:t>. Kết quả thực nghiệm</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quả thực nghiệm chức năng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73154" y="9369641"/>
            <a:ext cx="432088"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22</a:t>
            </a:r>
            <a:endParaRPr lang="en-US" sz="2600" b="1" spc="72">
              <a:solidFill>
                <a:srgbClr val="6E309C"/>
              </a:solidFill>
              <a:latin typeface="Arimo Bold"/>
              <a:ea typeface="Arimo Bold"/>
              <a:cs typeface="Arimo Bold"/>
              <a:sym typeface="Arimo Bold"/>
            </a:endParaRPr>
          </a:p>
        </p:txBody>
      </p:sp>
      <p:sp>
        <p:nvSpPr>
          <p:cNvPr id="10" name="TextBox 9"/>
          <p:cNvSpPr txBox="1"/>
          <p:nvPr/>
        </p:nvSpPr>
        <p:spPr>
          <a:xfrm>
            <a:off x="5820415" y="1954470"/>
            <a:ext cx="7294693" cy="500137"/>
          </a:xfrm>
          <a:prstGeom prst="rect">
            <a:avLst/>
          </a:prstGeom>
        </p:spPr>
        <p:txBody>
          <a:bodyPr wrap="square" lIns="0" tIns="0" rIns="0" bIns="0" rtlCol="0" anchor="t">
            <a:spAutoFit/>
          </a:bodyPr>
          <a:lstStyle/>
          <a:p>
            <a:pPr algn="ctr">
              <a:lnSpc>
                <a:spcPts val="3919"/>
              </a:lnSpc>
              <a:spcBef>
                <a:spcPct val="0"/>
              </a:spcBef>
            </a:pPr>
            <a:r>
              <a:rPr lang="en-US" sz="2799" i="1">
                <a:solidFill>
                  <a:srgbClr val="000000"/>
                </a:solidFill>
                <a:latin typeface="Open Sans Italics"/>
                <a:ea typeface="Open Sans Italics"/>
                <a:cs typeface="Open Sans Italics"/>
                <a:sym typeface="Open Sans Italics"/>
              </a:rPr>
              <a:t>Giao diện trang </a:t>
            </a:r>
            <a:r>
              <a:rPr lang="en-US" sz="2799" i="1" smtClean="0">
                <a:solidFill>
                  <a:srgbClr val="000000"/>
                </a:solidFill>
                <a:latin typeface="Open Sans Italics"/>
                <a:ea typeface="Open Sans Italics"/>
                <a:cs typeface="Open Sans Italics"/>
                <a:sym typeface="Open Sans Italics"/>
              </a:rPr>
              <a:t>chủ</a:t>
            </a:r>
            <a:endParaRPr lang="en-US" sz="2799" i="1">
              <a:solidFill>
                <a:srgbClr val="000000"/>
              </a:solidFill>
              <a:latin typeface="Open Sans Italics"/>
              <a:ea typeface="Open Sans Italics"/>
              <a:cs typeface="Open Sans Italics"/>
              <a:sym typeface="Open Sans Italics"/>
            </a:endParaRPr>
          </a:p>
        </p:txBody>
      </p:sp>
      <p:pic>
        <p:nvPicPr>
          <p:cNvPr id="8194" name="Picture 24" descr="GD_TrangCh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266" y="2722278"/>
            <a:ext cx="11831774" cy="54476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487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4</a:t>
            </a:r>
            <a:r>
              <a:rPr lang="en-US" sz="2600" i="1" spc="72" smtClean="0">
                <a:solidFill>
                  <a:srgbClr val="6E309C"/>
                </a:solidFill>
                <a:latin typeface="Arimo Italics"/>
                <a:ea typeface="Arimo Italics"/>
                <a:cs typeface="Arimo Italics"/>
                <a:sym typeface="Arimo Italics"/>
              </a:rPr>
              <a:t>. Kết quả thực nghiệm</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quả thực nghiệm chức năng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33966" y="9369641"/>
            <a:ext cx="471276"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23</a:t>
            </a:r>
            <a:endParaRPr lang="en-US" sz="2600" b="1" spc="72">
              <a:solidFill>
                <a:srgbClr val="6E309C"/>
              </a:solidFill>
              <a:latin typeface="Arimo Bold"/>
              <a:ea typeface="Arimo Bold"/>
              <a:cs typeface="Arimo Bold"/>
              <a:sym typeface="Arimo Bold"/>
            </a:endParaRPr>
          </a:p>
        </p:txBody>
      </p:sp>
      <p:sp>
        <p:nvSpPr>
          <p:cNvPr id="10" name="TextBox 9"/>
          <p:cNvSpPr txBox="1"/>
          <p:nvPr/>
        </p:nvSpPr>
        <p:spPr>
          <a:xfrm>
            <a:off x="5820415" y="1954470"/>
            <a:ext cx="7294693" cy="500137"/>
          </a:xfrm>
          <a:prstGeom prst="rect">
            <a:avLst/>
          </a:prstGeom>
        </p:spPr>
        <p:txBody>
          <a:bodyPr wrap="square" lIns="0" tIns="0" rIns="0" bIns="0" rtlCol="0" anchor="t">
            <a:spAutoFit/>
          </a:bodyPr>
          <a:lstStyle/>
          <a:p>
            <a:pPr algn="ctr">
              <a:lnSpc>
                <a:spcPts val="3919"/>
              </a:lnSpc>
              <a:spcBef>
                <a:spcPct val="0"/>
              </a:spcBef>
            </a:pPr>
            <a:r>
              <a:rPr lang="en-US" sz="2799" i="1">
                <a:solidFill>
                  <a:srgbClr val="000000"/>
                </a:solidFill>
                <a:latin typeface="Open Sans Italics"/>
                <a:ea typeface="Open Sans Italics"/>
                <a:cs typeface="Open Sans Italics"/>
                <a:sym typeface="Open Sans Italics"/>
              </a:rPr>
              <a:t>Giao diện trang </a:t>
            </a:r>
            <a:r>
              <a:rPr lang="en-US" sz="2799" i="1" smtClean="0">
                <a:solidFill>
                  <a:srgbClr val="000000"/>
                </a:solidFill>
                <a:latin typeface="Open Sans Italics"/>
                <a:ea typeface="Open Sans Italics"/>
                <a:cs typeface="Open Sans Italics"/>
                <a:sym typeface="Open Sans Italics"/>
              </a:rPr>
              <a:t>tìm kiếm công việc</a:t>
            </a:r>
            <a:endParaRPr lang="en-US" sz="2799" i="1">
              <a:solidFill>
                <a:srgbClr val="000000"/>
              </a:solidFill>
              <a:latin typeface="Open Sans Italics"/>
              <a:ea typeface="Open Sans Italics"/>
              <a:cs typeface="Open Sans Italics"/>
              <a:sym typeface="Open Sans Italics"/>
            </a:endParaRPr>
          </a:p>
        </p:txBody>
      </p:sp>
      <p:pic>
        <p:nvPicPr>
          <p:cNvPr id="9218" name="Picture 26" descr="GD_TimKiemViecL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1041" y="2715864"/>
            <a:ext cx="12446011" cy="574812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755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058609"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a:solidFill>
                  <a:srgbClr val="6E309C"/>
                </a:solidFill>
                <a:latin typeface="Arimo Italics"/>
                <a:ea typeface="Arimo Italics"/>
                <a:cs typeface="Arimo Italics"/>
                <a:sym typeface="Arimo Italics"/>
              </a:rPr>
              <a:t>4</a:t>
            </a:r>
            <a:r>
              <a:rPr lang="en-US" sz="2600" i="1" spc="72" smtClean="0">
                <a:solidFill>
                  <a:srgbClr val="6E309C"/>
                </a:solidFill>
                <a:latin typeface="Arimo Italics"/>
                <a:ea typeface="Arimo Italics"/>
                <a:cs typeface="Arimo Italics"/>
                <a:sym typeface="Arimo Italics"/>
              </a:rPr>
              <a:t>. Kết quả thực nghiệm</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quả thực nghiệm chức năng</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86217" y="9369641"/>
            <a:ext cx="419025"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24</a:t>
            </a:r>
            <a:endParaRPr lang="en-US" sz="2600" b="1" spc="72">
              <a:solidFill>
                <a:srgbClr val="6E309C"/>
              </a:solidFill>
              <a:latin typeface="Arimo Bold"/>
              <a:ea typeface="Arimo Bold"/>
              <a:cs typeface="Arimo Bold"/>
              <a:sym typeface="Arimo Bold"/>
            </a:endParaRPr>
          </a:p>
        </p:txBody>
      </p:sp>
      <p:sp>
        <p:nvSpPr>
          <p:cNvPr id="10" name="TextBox 9"/>
          <p:cNvSpPr txBox="1"/>
          <p:nvPr/>
        </p:nvSpPr>
        <p:spPr>
          <a:xfrm>
            <a:off x="5820415" y="1954470"/>
            <a:ext cx="7294693" cy="500137"/>
          </a:xfrm>
          <a:prstGeom prst="rect">
            <a:avLst/>
          </a:prstGeom>
        </p:spPr>
        <p:txBody>
          <a:bodyPr wrap="square" lIns="0" tIns="0" rIns="0" bIns="0" rtlCol="0" anchor="t">
            <a:spAutoFit/>
          </a:bodyPr>
          <a:lstStyle/>
          <a:p>
            <a:pPr algn="ctr">
              <a:lnSpc>
                <a:spcPts val="3919"/>
              </a:lnSpc>
              <a:spcBef>
                <a:spcPct val="0"/>
              </a:spcBef>
            </a:pPr>
            <a:r>
              <a:rPr lang="en-US" sz="2799" i="1">
                <a:solidFill>
                  <a:srgbClr val="000000"/>
                </a:solidFill>
                <a:latin typeface="Open Sans Italics"/>
                <a:ea typeface="Open Sans Italics"/>
                <a:cs typeface="Open Sans Italics"/>
                <a:sym typeface="Open Sans Italics"/>
              </a:rPr>
              <a:t>Giao diện trang </a:t>
            </a:r>
            <a:r>
              <a:rPr lang="en-US" sz="2799" i="1" smtClean="0">
                <a:solidFill>
                  <a:srgbClr val="000000"/>
                </a:solidFill>
                <a:latin typeface="Open Sans Italics"/>
                <a:ea typeface="Open Sans Italics"/>
                <a:cs typeface="Open Sans Italics"/>
                <a:sym typeface="Open Sans Italics"/>
              </a:rPr>
              <a:t>đánh giá CV với AI</a:t>
            </a:r>
            <a:endParaRPr lang="en-US" sz="2799" i="1">
              <a:solidFill>
                <a:srgbClr val="000000"/>
              </a:solidFill>
              <a:latin typeface="Open Sans Italics"/>
              <a:ea typeface="Open Sans Italics"/>
              <a:cs typeface="Open Sans Italics"/>
              <a:sym typeface="Open Sans Italics"/>
            </a:endParaRPr>
          </a:p>
        </p:txBody>
      </p:sp>
      <p:pic>
        <p:nvPicPr>
          <p:cNvPr id="11266" name="Picture 33" descr="GD_DanhGiaC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3494" y="2696947"/>
            <a:ext cx="12912830" cy="596372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474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73154" y="9369641"/>
            <a:ext cx="432088"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25</a:t>
            </a:r>
            <a:endParaRPr lang="en-US" sz="2600" b="1" spc="72">
              <a:solidFill>
                <a:srgbClr val="6E309C"/>
              </a:solidFill>
              <a:latin typeface="Arimo Bold"/>
              <a:ea typeface="Arimo Bold"/>
              <a:cs typeface="Arimo Bold"/>
              <a:sym typeface="Arimo Bold"/>
            </a:endParaRPr>
          </a:p>
        </p:txBody>
      </p:sp>
      <p:sp>
        <p:nvSpPr>
          <p:cNvPr id="38" name="TextBox 2"/>
          <p:cNvSpPr txBox="1"/>
          <p:nvPr/>
        </p:nvSpPr>
        <p:spPr>
          <a:xfrm>
            <a:off x="3931749" y="4374058"/>
            <a:ext cx="9496867" cy="1538883"/>
          </a:xfrm>
          <a:prstGeom prst="rect">
            <a:avLst/>
          </a:prstGeom>
        </p:spPr>
        <p:txBody>
          <a:bodyPr wrap="square" lIns="0" tIns="0" rIns="0" bIns="0" rtlCol="0" anchor="t">
            <a:spAutoFit/>
          </a:bodyPr>
          <a:lstStyle/>
          <a:p>
            <a:pPr marL="0" lvl="0" indent="0" algn="ctr">
              <a:lnSpc>
                <a:spcPts val="6000"/>
              </a:lnSpc>
              <a:spcBef>
                <a:spcPct val="0"/>
              </a:spcBef>
            </a:pPr>
            <a:r>
              <a:rPr lang="en-US" sz="5000" b="1" spc="138">
                <a:solidFill>
                  <a:srgbClr val="6E309C">
                    <a:alpha val="81961"/>
                  </a:srgbClr>
                </a:solidFill>
                <a:latin typeface="Open Sans Bold"/>
                <a:ea typeface="Open Sans Bold"/>
                <a:cs typeface="Open Sans Bold"/>
                <a:sym typeface="Open Sans Bold"/>
              </a:rPr>
              <a:t>5</a:t>
            </a:r>
            <a:r>
              <a:rPr lang="en-US" sz="5000" b="1" spc="138" smtClean="0">
                <a:solidFill>
                  <a:srgbClr val="6E309C">
                    <a:alpha val="81961"/>
                  </a:srgbClr>
                </a:solidFill>
                <a:latin typeface="Open Sans Bold"/>
                <a:ea typeface="Open Sans Bold"/>
                <a:cs typeface="Open Sans Bold"/>
                <a:sym typeface="Open Sans Bold"/>
              </a:rPr>
              <a:t>. KẾT LUẬN</a:t>
            </a:r>
          </a:p>
          <a:p>
            <a:pPr marL="0" lvl="0" indent="0" algn="ctr">
              <a:lnSpc>
                <a:spcPts val="6000"/>
              </a:lnSpc>
              <a:spcBef>
                <a:spcPct val="0"/>
              </a:spcBef>
            </a:pPr>
            <a:r>
              <a:rPr lang="en-US" sz="5000" b="1" spc="138" smtClean="0">
                <a:solidFill>
                  <a:srgbClr val="6E309C">
                    <a:alpha val="81961"/>
                  </a:srgbClr>
                </a:solidFill>
                <a:latin typeface="Open Sans Bold"/>
                <a:ea typeface="Open Sans Bold"/>
                <a:cs typeface="Open Sans Bold"/>
                <a:sym typeface="Open Sans Bold"/>
              </a:rPr>
              <a:t> VÀ HƯỚNG PHÁT TRIỂN</a:t>
            </a:r>
            <a:endParaRPr lang="en-US" sz="5000" b="1" spc="138">
              <a:solidFill>
                <a:srgbClr val="6E309C">
                  <a:alpha val="81961"/>
                </a:srgbClr>
              </a:solidFill>
              <a:latin typeface="Open Sans Bold"/>
              <a:ea typeface="Open Sans Bold"/>
              <a:cs typeface="Open Sans Bold"/>
              <a:sym typeface="Open Sans Bold"/>
            </a:endParaRPr>
          </a:p>
        </p:txBody>
      </p:sp>
      <p:sp>
        <p:nvSpPr>
          <p:cNvPr id="39" name="AutoShape 4"/>
          <p:cNvSpPr/>
          <p:nvPr/>
        </p:nvSpPr>
        <p:spPr>
          <a:xfrm>
            <a:off x="1028706" y="1023938"/>
            <a:ext cx="14662846" cy="4762"/>
          </a:xfrm>
          <a:prstGeom prst="line">
            <a:avLst/>
          </a:prstGeom>
          <a:ln w="19050" cap="rnd">
            <a:solidFill>
              <a:srgbClr val="6E309C"/>
            </a:solidFill>
            <a:prstDash val="solid"/>
            <a:headEnd type="none" w="sm" len="sm"/>
            <a:tailEnd type="none" w="sm" len="sm"/>
          </a:ln>
        </p:spPr>
      </p:sp>
      <p:pic>
        <p:nvPicPr>
          <p:cNvPr id="43" name="Picture 42" descr="tvu"/>
          <p:cNvPicPr>
            <a:picLocks noChangeAspect="1"/>
          </p:cNvPicPr>
          <p:nvPr/>
        </p:nvPicPr>
        <p:blipFill>
          <a:blip r:embed="rId2"/>
          <a:srcRect l="20639" t="20611" r="20250" b="20046"/>
          <a:stretch>
            <a:fillRect/>
          </a:stretch>
        </p:blipFill>
        <p:spPr>
          <a:xfrm>
            <a:off x="16695420" y="706268"/>
            <a:ext cx="804049" cy="793784"/>
          </a:xfrm>
          <a:prstGeom prst="rect">
            <a:avLst/>
          </a:prstGeom>
        </p:spPr>
      </p:pic>
    </p:spTree>
    <p:extLst>
      <p:ext uri="{BB962C8B-B14F-4D97-AF65-F5344CB8AC3E}">
        <p14:creationId xmlns:p14="http://schemas.microsoft.com/office/powerpoint/2010/main" val="2851985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359055"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smtClean="0">
                <a:solidFill>
                  <a:srgbClr val="6E309C"/>
                </a:solidFill>
                <a:latin typeface="Arimo Italics"/>
                <a:ea typeface="Arimo Italics"/>
                <a:cs typeface="Arimo Italics"/>
                <a:sym typeface="Arimo Italics"/>
              </a:rPr>
              <a:t>5. Kết luận và hướng phát triển</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Kết luận</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33966" y="9369641"/>
            <a:ext cx="471276"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26</a:t>
            </a:r>
            <a:endParaRPr lang="en-US" sz="2600" b="1" spc="72">
              <a:solidFill>
                <a:srgbClr val="6E309C"/>
              </a:solidFill>
              <a:latin typeface="Arimo Bold"/>
              <a:ea typeface="Arimo Bold"/>
              <a:cs typeface="Arimo Bold"/>
              <a:sym typeface="Arimo Bold"/>
            </a:endParaRPr>
          </a:p>
        </p:txBody>
      </p:sp>
      <p:sp>
        <p:nvSpPr>
          <p:cNvPr id="15" name="TextBox 8"/>
          <p:cNvSpPr txBox="1"/>
          <p:nvPr/>
        </p:nvSpPr>
        <p:spPr>
          <a:xfrm>
            <a:off x="763112" y="2183659"/>
            <a:ext cx="16742130" cy="1000274"/>
          </a:xfrm>
          <a:prstGeom prst="rect">
            <a:avLst/>
          </a:prstGeom>
        </p:spPr>
        <p:txBody>
          <a:bodyPr lIns="0" tIns="0" rIns="0" bIns="0" rtlCol="0" anchor="t">
            <a:spAutoFit/>
          </a:bodyPr>
          <a:lstStyle/>
          <a:p>
            <a:pPr marL="0" lvl="0" indent="0" algn="l">
              <a:lnSpc>
                <a:spcPts val="3919"/>
              </a:lnSpc>
              <a:spcBef>
                <a:spcPct val="0"/>
              </a:spcBef>
            </a:pPr>
            <a:r>
              <a:rPr lang="en-US" sz="2799" u="none" strike="noStrike">
                <a:solidFill>
                  <a:srgbClr val="000000"/>
                </a:solidFill>
                <a:latin typeface="Open Sans"/>
                <a:ea typeface="Open Sans"/>
                <a:cs typeface="Open Sans"/>
                <a:sym typeface="Open Sans"/>
              </a:rPr>
              <a:t>Hệ thống tạo </a:t>
            </a:r>
            <a:r>
              <a:rPr lang="en-US" sz="2799" u="none" strike="noStrike" smtClean="0">
                <a:solidFill>
                  <a:srgbClr val="000000"/>
                </a:solidFill>
                <a:latin typeface="Open Sans"/>
                <a:ea typeface="Open Sans"/>
                <a:cs typeface="Open Sans"/>
                <a:sym typeface="Open Sans"/>
              </a:rPr>
              <a:t>tìm việc và ứng tuyển việc làm được xây dựng thành công cho nhà tuyển dụng và ứng viên với các chức năng như:</a:t>
            </a:r>
            <a:endParaRPr lang="en-US" sz="2799" u="none" strike="noStrike">
              <a:solidFill>
                <a:srgbClr val="000000"/>
              </a:solidFill>
              <a:latin typeface="Open Sans"/>
              <a:ea typeface="Open Sans"/>
              <a:cs typeface="Open Sans"/>
              <a:sym typeface="Open Sans"/>
            </a:endParaRPr>
          </a:p>
        </p:txBody>
      </p:sp>
      <p:grpSp>
        <p:nvGrpSpPr>
          <p:cNvPr id="16" name="Group 9"/>
          <p:cNvGrpSpPr/>
          <p:nvPr/>
        </p:nvGrpSpPr>
        <p:grpSpPr>
          <a:xfrm>
            <a:off x="1689087" y="3814633"/>
            <a:ext cx="4868629" cy="626829"/>
            <a:chOff x="0" y="0"/>
            <a:chExt cx="6491505" cy="835772"/>
          </a:xfrm>
        </p:grpSpPr>
        <p:sp>
          <p:nvSpPr>
            <p:cNvPr id="17" name="Freeform 10"/>
            <p:cNvSpPr/>
            <p:nvPr/>
          </p:nvSpPr>
          <p:spPr>
            <a:xfrm>
              <a:off x="0" y="0"/>
              <a:ext cx="934298" cy="835772"/>
            </a:xfrm>
            <a:custGeom>
              <a:avLst/>
              <a:gdLst/>
              <a:ahLst/>
              <a:cxnLst/>
              <a:rect l="l" t="t" r="r" b="b"/>
              <a:pathLst>
                <a:path w="934298" h="835772">
                  <a:moveTo>
                    <a:pt x="0" y="0"/>
                  </a:moveTo>
                  <a:lnTo>
                    <a:pt x="934298" y="0"/>
                  </a:lnTo>
                  <a:lnTo>
                    <a:pt x="934298" y="835772"/>
                  </a:lnTo>
                  <a:lnTo>
                    <a:pt x="0" y="835772"/>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18" name="TextBox 11"/>
            <p:cNvSpPr txBox="1"/>
            <p:nvPr/>
          </p:nvSpPr>
          <p:spPr>
            <a:xfrm>
              <a:off x="1354547" y="77949"/>
              <a:ext cx="5136958" cy="622724"/>
            </a:xfrm>
            <a:prstGeom prst="rect">
              <a:avLst/>
            </a:prstGeom>
          </p:spPr>
          <p:txBody>
            <a:bodyPr lIns="0" tIns="0" rIns="0" bIns="0" rtlCol="0" anchor="t">
              <a:spAutoFit/>
            </a:bodyPr>
            <a:lstStyle/>
            <a:p>
              <a:pPr marL="0" lvl="0" indent="0" algn="l">
                <a:lnSpc>
                  <a:spcPts val="3919"/>
                </a:lnSpc>
                <a:spcBef>
                  <a:spcPct val="0"/>
                </a:spcBef>
              </a:pPr>
              <a:r>
                <a:rPr lang="en-US" sz="2799">
                  <a:solidFill>
                    <a:srgbClr val="000000"/>
                  </a:solidFill>
                  <a:latin typeface="Open Sans"/>
                  <a:ea typeface="Open Sans"/>
                  <a:cs typeface="Open Sans"/>
                  <a:sym typeface="Open Sans"/>
                </a:rPr>
                <a:t>Đăng ký / Đăng nhập</a:t>
              </a:r>
            </a:p>
          </p:txBody>
        </p:sp>
      </p:grpSp>
      <p:grpSp>
        <p:nvGrpSpPr>
          <p:cNvPr id="19" name="Group 12"/>
          <p:cNvGrpSpPr/>
          <p:nvPr/>
        </p:nvGrpSpPr>
        <p:grpSpPr>
          <a:xfrm>
            <a:off x="1689087" y="4828183"/>
            <a:ext cx="6376802" cy="626829"/>
            <a:chOff x="0" y="0"/>
            <a:chExt cx="8502402" cy="835772"/>
          </a:xfrm>
        </p:grpSpPr>
        <p:sp>
          <p:nvSpPr>
            <p:cNvPr id="20" name="Freeform 13"/>
            <p:cNvSpPr/>
            <p:nvPr/>
          </p:nvSpPr>
          <p:spPr>
            <a:xfrm>
              <a:off x="0" y="0"/>
              <a:ext cx="934298" cy="835772"/>
            </a:xfrm>
            <a:custGeom>
              <a:avLst/>
              <a:gdLst/>
              <a:ahLst/>
              <a:cxnLst/>
              <a:rect l="l" t="t" r="r" b="b"/>
              <a:pathLst>
                <a:path w="934298" h="835772">
                  <a:moveTo>
                    <a:pt x="0" y="0"/>
                  </a:moveTo>
                  <a:lnTo>
                    <a:pt x="934298" y="0"/>
                  </a:lnTo>
                  <a:lnTo>
                    <a:pt x="934298" y="835772"/>
                  </a:lnTo>
                  <a:lnTo>
                    <a:pt x="0" y="835772"/>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21" name="TextBox 14"/>
            <p:cNvSpPr txBox="1"/>
            <p:nvPr/>
          </p:nvSpPr>
          <p:spPr>
            <a:xfrm>
              <a:off x="1354547" y="77949"/>
              <a:ext cx="7147855" cy="622724"/>
            </a:xfrm>
            <a:prstGeom prst="rect">
              <a:avLst/>
            </a:prstGeom>
          </p:spPr>
          <p:txBody>
            <a:bodyPr lIns="0" tIns="0" rIns="0" bIns="0" rtlCol="0" anchor="t">
              <a:spAutoFit/>
            </a:bodyPr>
            <a:lstStyle/>
            <a:p>
              <a:pPr marL="0" lvl="0" indent="0" algn="l">
                <a:lnSpc>
                  <a:spcPts val="3919"/>
                </a:lnSpc>
                <a:spcBef>
                  <a:spcPct val="0"/>
                </a:spcBef>
              </a:pPr>
              <a:r>
                <a:rPr lang="en-US" sz="2799" smtClean="0">
                  <a:solidFill>
                    <a:srgbClr val="000000"/>
                  </a:solidFill>
                  <a:latin typeface="Open Sans"/>
                  <a:ea typeface="Open Sans"/>
                  <a:cs typeface="Open Sans"/>
                  <a:sym typeface="Open Sans"/>
                </a:rPr>
                <a:t>Tìm kiếm công việc</a:t>
              </a:r>
              <a:endParaRPr lang="en-US" sz="2799">
                <a:solidFill>
                  <a:srgbClr val="000000"/>
                </a:solidFill>
                <a:latin typeface="Open Sans"/>
                <a:ea typeface="Open Sans"/>
                <a:cs typeface="Open Sans"/>
                <a:sym typeface="Open Sans"/>
              </a:endParaRPr>
            </a:p>
          </p:txBody>
        </p:sp>
      </p:grpSp>
      <p:grpSp>
        <p:nvGrpSpPr>
          <p:cNvPr id="22" name="Group 15"/>
          <p:cNvGrpSpPr/>
          <p:nvPr/>
        </p:nvGrpSpPr>
        <p:grpSpPr>
          <a:xfrm>
            <a:off x="8684539" y="5845537"/>
            <a:ext cx="8155662" cy="626829"/>
            <a:chOff x="0" y="0"/>
            <a:chExt cx="10874215" cy="835772"/>
          </a:xfrm>
        </p:grpSpPr>
        <p:sp>
          <p:nvSpPr>
            <p:cNvPr id="23" name="Freeform 16"/>
            <p:cNvSpPr/>
            <p:nvPr/>
          </p:nvSpPr>
          <p:spPr>
            <a:xfrm>
              <a:off x="0" y="0"/>
              <a:ext cx="934298" cy="835772"/>
            </a:xfrm>
            <a:custGeom>
              <a:avLst/>
              <a:gdLst/>
              <a:ahLst/>
              <a:cxnLst/>
              <a:rect l="l" t="t" r="r" b="b"/>
              <a:pathLst>
                <a:path w="934298" h="835772">
                  <a:moveTo>
                    <a:pt x="0" y="0"/>
                  </a:moveTo>
                  <a:lnTo>
                    <a:pt x="934298" y="0"/>
                  </a:lnTo>
                  <a:lnTo>
                    <a:pt x="934298" y="835772"/>
                  </a:lnTo>
                  <a:lnTo>
                    <a:pt x="0" y="835772"/>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24" name="TextBox 17"/>
            <p:cNvSpPr txBox="1"/>
            <p:nvPr/>
          </p:nvSpPr>
          <p:spPr>
            <a:xfrm>
              <a:off x="1354547" y="77949"/>
              <a:ext cx="9519668" cy="666849"/>
            </a:xfrm>
            <a:prstGeom prst="rect">
              <a:avLst/>
            </a:prstGeom>
          </p:spPr>
          <p:txBody>
            <a:bodyPr wrap="square" lIns="0" tIns="0" rIns="0" bIns="0" rtlCol="0" anchor="t">
              <a:spAutoFit/>
            </a:bodyPr>
            <a:lstStyle/>
            <a:p>
              <a:pPr marL="0" lvl="0" indent="0" algn="l">
                <a:lnSpc>
                  <a:spcPts val="3919"/>
                </a:lnSpc>
                <a:spcBef>
                  <a:spcPct val="0"/>
                </a:spcBef>
              </a:pPr>
              <a:r>
                <a:rPr lang="en-US" sz="2799" smtClean="0">
                  <a:solidFill>
                    <a:srgbClr val="000000"/>
                  </a:solidFill>
                  <a:latin typeface="Open Sans"/>
                  <a:ea typeface="Open Sans"/>
                  <a:cs typeface="Open Sans"/>
                  <a:sym typeface="Open Sans"/>
                </a:rPr>
                <a:t>Lưu việc làm và theo dõi nhà tuyển dụng</a:t>
              </a:r>
              <a:endParaRPr lang="en-US" sz="2799">
                <a:solidFill>
                  <a:srgbClr val="000000"/>
                </a:solidFill>
                <a:latin typeface="Open Sans"/>
                <a:ea typeface="Open Sans"/>
                <a:cs typeface="Open Sans"/>
                <a:sym typeface="Open Sans"/>
              </a:endParaRPr>
            </a:p>
          </p:txBody>
        </p:sp>
      </p:grpSp>
      <p:grpSp>
        <p:nvGrpSpPr>
          <p:cNvPr id="25" name="Group 18"/>
          <p:cNvGrpSpPr/>
          <p:nvPr/>
        </p:nvGrpSpPr>
        <p:grpSpPr>
          <a:xfrm>
            <a:off x="1668057" y="5845537"/>
            <a:ext cx="6376802" cy="626829"/>
            <a:chOff x="0" y="0"/>
            <a:chExt cx="8502402" cy="835772"/>
          </a:xfrm>
        </p:grpSpPr>
        <p:sp>
          <p:nvSpPr>
            <p:cNvPr id="26" name="Freeform 19"/>
            <p:cNvSpPr/>
            <p:nvPr/>
          </p:nvSpPr>
          <p:spPr>
            <a:xfrm>
              <a:off x="0" y="0"/>
              <a:ext cx="934298" cy="835772"/>
            </a:xfrm>
            <a:custGeom>
              <a:avLst/>
              <a:gdLst/>
              <a:ahLst/>
              <a:cxnLst/>
              <a:rect l="l" t="t" r="r" b="b"/>
              <a:pathLst>
                <a:path w="934298" h="835772">
                  <a:moveTo>
                    <a:pt x="0" y="0"/>
                  </a:moveTo>
                  <a:lnTo>
                    <a:pt x="934298" y="0"/>
                  </a:lnTo>
                  <a:lnTo>
                    <a:pt x="934298" y="835772"/>
                  </a:lnTo>
                  <a:lnTo>
                    <a:pt x="0" y="835772"/>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27" name="TextBox 20"/>
            <p:cNvSpPr txBox="1"/>
            <p:nvPr/>
          </p:nvSpPr>
          <p:spPr>
            <a:xfrm>
              <a:off x="1354547" y="77949"/>
              <a:ext cx="7147855" cy="622724"/>
            </a:xfrm>
            <a:prstGeom prst="rect">
              <a:avLst/>
            </a:prstGeom>
          </p:spPr>
          <p:txBody>
            <a:bodyPr lIns="0" tIns="0" rIns="0" bIns="0" rtlCol="0" anchor="t">
              <a:spAutoFit/>
            </a:bodyPr>
            <a:lstStyle/>
            <a:p>
              <a:pPr marL="0" lvl="0" indent="0" algn="l">
                <a:lnSpc>
                  <a:spcPts val="3919"/>
                </a:lnSpc>
                <a:spcBef>
                  <a:spcPct val="0"/>
                </a:spcBef>
              </a:pPr>
              <a:r>
                <a:rPr lang="en-US" sz="2799" smtClean="0">
                  <a:solidFill>
                    <a:srgbClr val="000000"/>
                  </a:solidFill>
                  <a:latin typeface="Open Sans"/>
                  <a:ea typeface="Open Sans"/>
                  <a:cs typeface="Open Sans"/>
                  <a:sym typeface="Open Sans"/>
                </a:rPr>
                <a:t>Ứng tuyển công việc</a:t>
              </a:r>
              <a:endParaRPr lang="en-US" sz="2799">
                <a:solidFill>
                  <a:srgbClr val="000000"/>
                </a:solidFill>
                <a:latin typeface="Open Sans"/>
                <a:ea typeface="Open Sans"/>
                <a:cs typeface="Open Sans"/>
                <a:sym typeface="Open Sans"/>
              </a:endParaRPr>
            </a:p>
          </p:txBody>
        </p:sp>
      </p:grpSp>
      <p:grpSp>
        <p:nvGrpSpPr>
          <p:cNvPr id="28" name="Group 21"/>
          <p:cNvGrpSpPr/>
          <p:nvPr/>
        </p:nvGrpSpPr>
        <p:grpSpPr>
          <a:xfrm>
            <a:off x="8684539" y="3814633"/>
            <a:ext cx="6376802" cy="626829"/>
            <a:chOff x="0" y="0"/>
            <a:chExt cx="8502402" cy="835772"/>
          </a:xfrm>
        </p:grpSpPr>
        <p:sp>
          <p:nvSpPr>
            <p:cNvPr id="29" name="Freeform 22"/>
            <p:cNvSpPr/>
            <p:nvPr/>
          </p:nvSpPr>
          <p:spPr>
            <a:xfrm>
              <a:off x="0" y="0"/>
              <a:ext cx="934298" cy="835772"/>
            </a:xfrm>
            <a:custGeom>
              <a:avLst/>
              <a:gdLst/>
              <a:ahLst/>
              <a:cxnLst/>
              <a:rect l="l" t="t" r="r" b="b"/>
              <a:pathLst>
                <a:path w="934298" h="835772">
                  <a:moveTo>
                    <a:pt x="0" y="0"/>
                  </a:moveTo>
                  <a:lnTo>
                    <a:pt x="934298" y="0"/>
                  </a:lnTo>
                  <a:lnTo>
                    <a:pt x="934298" y="835772"/>
                  </a:lnTo>
                  <a:lnTo>
                    <a:pt x="0" y="835772"/>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30" name="TextBox 23"/>
            <p:cNvSpPr txBox="1"/>
            <p:nvPr/>
          </p:nvSpPr>
          <p:spPr>
            <a:xfrm>
              <a:off x="1354547" y="77949"/>
              <a:ext cx="7147855" cy="622724"/>
            </a:xfrm>
            <a:prstGeom prst="rect">
              <a:avLst/>
            </a:prstGeom>
          </p:spPr>
          <p:txBody>
            <a:bodyPr lIns="0" tIns="0" rIns="0" bIns="0" rtlCol="0" anchor="t">
              <a:spAutoFit/>
            </a:bodyPr>
            <a:lstStyle/>
            <a:p>
              <a:pPr marL="0" lvl="0" indent="0" algn="l">
                <a:lnSpc>
                  <a:spcPts val="3919"/>
                </a:lnSpc>
                <a:spcBef>
                  <a:spcPct val="0"/>
                </a:spcBef>
              </a:pPr>
              <a:r>
                <a:rPr lang="en-US" sz="2799" smtClean="0">
                  <a:solidFill>
                    <a:srgbClr val="000000"/>
                  </a:solidFill>
                  <a:latin typeface="Open Sans"/>
                  <a:ea typeface="Open Sans"/>
                  <a:cs typeface="Open Sans"/>
                  <a:sym typeface="Open Sans"/>
                </a:rPr>
                <a:t>Quản lý ứng tuyển</a:t>
              </a:r>
              <a:endParaRPr lang="en-US" sz="2799">
                <a:solidFill>
                  <a:srgbClr val="000000"/>
                </a:solidFill>
                <a:latin typeface="Open Sans"/>
                <a:ea typeface="Open Sans"/>
                <a:cs typeface="Open Sans"/>
                <a:sym typeface="Open Sans"/>
              </a:endParaRPr>
            </a:p>
          </p:txBody>
        </p:sp>
      </p:grpSp>
      <p:grpSp>
        <p:nvGrpSpPr>
          <p:cNvPr id="31" name="Group 24"/>
          <p:cNvGrpSpPr/>
          <p:nvPr/>
        </p:nvGrpSpPr>
        <p:grpSpPr>
          <a:xfrm>
            <a:off x="8684539" y="4783081"/>
            <a:ext cx="6376802" cy="626829"/>
            <a:chOff x="0" y="0"/>
            <a:chExt cx="8502402" cy="835772"/>
          </a:xfrm>
        </p:grpSpPr>
        <p:sp>
          <p:nvSpPr>
            <p:cNvPr id="32" name="Freeform 25"/>
            <p:cNvSpPr/>
            <p:nvPr/>
          </p:nvSpPr>
          <p:spPr>
            <a:xfrm>
              <a:off x="0" y="0"/>
              <a:ext cx="934298" cy="835772"/>
            </a:xfrm>
            <a:custGeom>
              <a:avLst/>
              <a:gdLst/>
              <a:ahLst/>
              <a:cxnLst/>
              <a:rect l="l" t="t" r="r" b="b"/>
              <a:pathLst>
                <a:path w="934298" h="835772">
                  <a:moveTo>
                    <a:pt x="0" y="0"/>
                  </a:moveTo>
                  <a:lnTo>
                    <a:pt x="934298" y="0"/>
                  </a:lnTo>
                  <a:lnTo>
                    <a:pt x="934298" y="835772"/>
                  </a:lnTo>
                  <a:lnTo>
                    <a:pt x="0" y="835772"/>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33" name="TextBox 26"/>
            <p:cNvSpPr txBox="1"/>
            <p:nvPr/>
          </p:nvSpPr>
          <p:spPr>
            <a:xfrm>
              <a:off x="1354547" y="77949"/>
              <a:ext cx="7147855" cy="622724"/>
            </a:xfrm>
            <a:prstGeom prst="rect">
              <a:avLst/>
            </a:prstGeom>
          </p:spPr>
          <p:txBody>
            <a:bodyPr lIns="0" tIns="0" rIns="0" bIns="0" rtlCol="0" anchor="t">
              <a:spAutoFit/>
            </a:bodyPr>
            <a:lstStyle/>
            <a:p>
              <a:pPr marL="0" lvl="0" indent="0" algn="l">
                <a:lnSpc>
                  <a:spcPts val="3919"/>
                </a:lnSpc>
                <a:spcBef>
                  <a:spcPct val="0"/>
                </a:spcBef>
              </a:pPr>
              <a:r>
                <a:rPr lang="en-US" sz="2799">
                  <a:solidFill>
                    <a:srgbClr val="000000"/>
                  </a:solidFill>
                  <a:latin typeface="Open Sans"/>
                  <a:ea typeface="Open Sans"/>
                  <a:cs typeface="Open Sans"/>
                  <a:sym typeface="Open Sans"/>
                </a:rPr>
                <a:t>Đánh giá hồ sơ xin việc (AI)</a:t>
              </a:r>
            </a:p>
          </p:txBody>
        </p:sp>
      </p:grpSp>
      <p:sp>
        <p:nvSpPr>
          <p:cNvPr id="34" name="TextBox 27"/>
          <p:cNvSpPr txBox="1"/>
          <p:nvPr/>
        </p:nvSpPr>
        <p:spPr>
          <a:xfrm>
            <a:off x="1028700" y="7152169"/>
            <a:ext cx="16742130" cy="1000274"/>
          </a:xfrm>
          <a:prstGeom prst="rect">
            <a:avLst/>
          </a:prstGeom>
        </p:spPr>
        <p:txBody>
          <a:bodyPr lIns="0" tIns="0" rIns="0" bIns="0" rtlCol="0" anchor="t">
            <a:spAutoFit/>
          </a:bodyPr>
          <a:lstStyle/>
          <a:p>
            <a:pPr marL="0" lvl="0" indent="0" algn="l">
              <a:lnSpc>
                <a:spcPts val="3919"/>
              </a:lnSpc>
              <a:spcBef>
                <a:spcPct val="0"/>
              </a:spcBef>
            </a:pPr>
            <a:r>
              <a:rPr lang="en-US" sz="2799">
                <a:solidFill>
                  <a:srgbClr val="000000"/>
                </a:solidFill>
                <a:latin typeface="Open Sans"/>
                <a:ea typeface="Open Sans"/>
                <a:cs typeface="Open Sans"/>
                <a:sym typeface="Open Sans"/>
              </a:rPr>
              <a:t>Bằng việc sử dụng hệ thống </a:t>
            </a:r>
            <a:r>
              <a:rPr lang="en-US" sz="2799" smtClean="0">
                <a:solidFill>
                  <a:srgbClr val="000000"/>
                </a:solidFill>
                <a:latin typeface="Open Sans"/>
                <a:ea typeface="Open Sans"/>
                <a:cs typeface="Open Sans"/>
                <a:sym typeface="Open Sans"/>
              </a:rPr>
              <a:t>ứng viên có thể nhanh chóng tìm công việc cần ứng tuyển và thực hiện ứng tuyển, nhà tuyển dụng có thể đăng tài công việc và quản lý đơn ứng tuyển của ứng viên.</a:t>
            </a:r>
            <a:endParaRPr lang="en-US" sz="2799">
              <a:solidFill>
                <a:srgbClr val="000000"/>
              </a:solidFill>
              <a:latin typeface="Open Sans"/>
              <a:ea typeface="Open Sans"/>
              <a:cs typeface="Open Sans"/>
              <a:sym typeface="Open Sans"/>
            </a:endParaRPr>
          </a:p>
        </p:txBody>
      </p:sp>
    </p:spTree>
    <p:extLst>
      <p:ext uri="{BB962C8B-B14F-4D97-AF65-F5344CB8AC3E}">
        <p14:creationId xmlns:p14="http://schemas.microsoft.com/office/powerpoint/2010/main" val="1063852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flipH="1">
            <a:off x="763320" y="716667"/>
            <a:ext cx="0" cy="771525"/>
          </a:xfrm>
          <a:prstGeom prst="line">
            <a:avLst/>
          </a:prstGeom>
          <a:ln w="114300" cap="rnd">
            <a:solidFill>
              <a:srgbClr val="8D51FF">
                <a:alpha val="47000"/>
              </a:srgbClr>
            </a:solidFill>
            <a:prstDash val="solid"/>
            <a:headEnd type="none" w="sm" len="sm"/>
            <a:tailEnd type="none" w="sm" len="sm"/>
          </a:ln>
        </p:spPr>
      </p:sp>
      <p:sp>
        <p:nvSpPr>
          <p:cNvPr id="3" name="TextBox 15"/>
          <p:cNvSpPr txBox="1"/>
          <p:nvPr/>
        </p:nvSpPr>
        <p:spPr>
          <a:xfrm>
            <a:off x="1041745" y="688092"/>
            <a:ext cx="5359055" cy="397545"/>
          </a:xfrm>
          <a:prstGeom prst="rect">
            <a:avLst/>
          </a:prstGeom>
        </p:spPr>
        <p:txBody>
          <a:bodyPr wrap="square" lIns="0" tIns="0" rIns="0" bIns="0" rtlCol="0" anchor="t">
            <a:spAutoFit/>
          </a:bodyPr>
          <a:lstStyle/>
          <a:p>
            <a:pPr marL="0" lvl="0" indent="0" algn="l">
              <a:lnSpc>
                <a:spcPts val="3120"/>
              </a:lnSpc>
              <a:spcBef>
                <a:spcPct val="0"/>
              </a:spcBef>
            </a:pPr>
            <a:r>
              <a:rPr lang="en-US" sz="2600" i="1" spc="72" smtClean="0">
                <a:solidFill>
                  <a:srgbClr val="6E309C"/>
                </a:solidFill>
                <a:latin typeface="Arimo Italics"/>
                <a:ea typeface="Arimo Italics"/>
                <a:cs typeface="Arimo Italics"/>
                <a:sym typeface="Arimo Italics"/>
              </a:rPr>
              <a:t>5. Kết luận và hướng phát triển</a:t>
            </a:r>
            <a:endParaRPr lang="en-US" sz="2600" i="1" spc="72">
              <a:solidFill>
                <a:srgbClr val="6E309C"/>
              </a:solidFill>
              <a:latin typeface="Arimo Italics"/>
              <a:ea typeface="Arimo Italics"/>
              <a:cs typeface="Arimo Italics"/>
              <a:sym typeface="Arimo Italics"/>
            </a:endParaRPr>
          </a:p>
        </p:txBody>
      </p:sp>
      <p:sp>
        <p:nvSpPr>
          <p:cNvPr id="4" name="TextBox 16"/>
          <p:cNvSpPr txBox="1"/>
          <p:nvPr/>
        </p:nvSpPr>
        <p:spPr>
          <a:xfrm>
            <a:off x="1041745" y="1078617"/>
            <a:ext cx="5568180" cy="409575"/>
          </a:xfrm>
          <a:prstGeom prst="rect">
            <a:avLst/>
          </a:prstGeom>
        </p:spPr>
        <p:txBody>
          <a:bodyPr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Hướng phát triển</a:t>
            </a:r>
            <a:endParaRPr lang="en-US" sz="2600" b="1" spc="72">
              <a:solidFill>
                <a:srgbClr val="6E309C"/>
              </a:solidFill>
              <a:latin typeface="Arimo Bold"/>
              <a:ea typeface="Arimo Bold"/>
              <a:cs typeface="Arimo Bold"/>
              <a:sym typeface="Arimo Bold"/>
            </a:endParaRPr>
          </a:p>
        </p:txBody>
      </p:sp>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60091" y="9369641"/>
            <a:ext cx="445151"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27</a:t>
            </a:r>
            <a:endParaRPr lang="en-US" sz="2600" b="1" spc="72">
              <a:solidFill>
                <a:srgbClr val="6E309C"/>
              </a:solidFill>
              <a:latin typeface="Arimo Bold"/>
              <a:ea typeface="Arimo Bold"/>
              <a:cs typeface="Arimo Bold"/>
              <a:sym typeface="Arimo Bold"/>
            </a:endParaRPr>
          </a:p>
        </p:txBody>
      </p:sp>
      <p:sp>
        <p:nvSpPr>
          <p:cNvPr id="35" name="Freeform 5"/>
          <p:cNvSpPr/>
          <p:nvPr/>
        </p:nvSpPr>
        <p:spPr>
          <a:xfrm>
            <a:off x="13572309" y="3021807"/>
            <a:ext cx="3140976" cy="4162764"/>
          </a:xfrm>
          <a:custGeom>
            <a:avLst/>
            <a:gdLst/>
            <a:ahLst/>
            <a:cxnLst/>
            <a:rect l="l" t="t" r="r" b="b"/>
            <a:pathLst>
              <a:path w="3711425" h="4705452">
                <a:moveTo>
                  <a:pt x="0" y="0"/>
                </a:moveTo>
                <a:lnTo>
                  <a:pt x="3711425" y="0"/>
                </a:lnTo>
                <a:lnTo>
                  <a:pt x="3711425" y="4705451"/>
                </a:lnTo>
                <a:lnTo>
                  <a:pt x="0" y="4705451"/>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37" name="TextBox 10"/>
          <p:cNvSpPr txBox="1"/>
          <p:nvPr/>
        </p:nvSpPr>
        <p:spPr>
          <a:xfrm>
            <a:off x="896114" y="2902495"/>
            <a:ext cx="11986844" cy="1468031"/>
          </a:xfrm>
          <a:prstGeom prst="rect">
            <a:avLst/>
          </a:prstGeom>
        </p:spPr>
        <p:txBody>
          <a:bodyPr lIns="0" tIns="0" rIns="0" bIns="0" rtlCol="0" anchor="t">
            <a:spAutoFit/>
          </a:bodyPr>
          <a:lstStyle/>
          <a:p>
            <a:pPr lvl="0">
              <a:lnSpc>
                <a:spcPts val="3919"/>
              </a:lnSpc>
              <a:spcBef>
                <a:spcPct val="0"/>
              </a:spcBef>
            </a:pPr>
            <a:r>
              <a:rPr lang="vi-VN" sz="2799" smtClean="0">
                <a:solidFill>
                  <a:srgbClr val="000000"/>
                </a:solidFill>
                <a:latin typeface="Open Sans"/>
                <a:ea typeface="Open Sans"/>
                <a:cs typeface="Open Sans"/>
                <a:sym typeface="Open Sans"/>
              </a:rPr>
              <a:t>Bổ </a:t>
            </a:r>
            <a:r>
              <a:rPr lang="vi-VN" sz="2799">
                <a:solidFill>
                  <a:srgbClr val="000000"/>
                </a:solidFill>
                <a:latin typeface="Open Sans"/>
                <a:ea typeface="Open Sans"/>
                <a:cs typeface="Open Sans"/>
                <a:sym typeface="Open Sans"/>
              </a:rPr>
              <a:t>sung </a:t>
            </a:r>
            <a:r>
              <a:rPr lang="en-US" sz="2799" smtClean="0">
                <a:solidFill>
                  <a:srgbClr val="000000"/>
                </a:solidFill>
                <a:latin typeface="Open Sans"/>
                <a:ea typeface="Open Sans"/>
                <a:cs typeface="Open Sans"/>
                <a:sym typeface="Open Sans"/>
              </a:rPr>
              <a:t>c</a:t>
            </a:r>
            <a:r>
              <a:rPr lang="vi-VN" sz="2799" smtClean="0">
                <a:solidFill>
                  <a:srgbClr val="000000"/>
                </a:solidFill>
                <a:latin typeface="Open Sans"/>
                <a:ea typeface="Open Sans"/>
                <a:cs typeface="Open Sans"/>
                <a:sym typeface="Open Sans"/>
              </a:rPr>
              <a:t>hức </a:t>
            </a:r>
            <a:r>
              <a:rPr lang="vi-VN" sz="2799">
                <a:solidFill>
                  <a:srgbClr val="000000"/>
                </a:solidFill>
                <a:latin typeface="Open Sans"/>
                <a:ea typeface="Open Sans"/>
                <a:cs typeface="Open Sans"/>
                <a:sym typeface="Open Sans"/>
              </a:rPr>
              <a:t>năng tương tác như nhắn tin trực tiếp, thông báo theo thời gian thực cho toàn bộ chức năng và đặt lịch phỏng vấn sẽ giúp cải thiện quá trình tuyển dụng.</a:t>
            </a:r>
            <a:endParaRPr lang="en-US" sz="2799">
              <a:solidFill>
                <a:srgbClr val="000000"/>
              </a:solidFill>
              <a:latin typeface="Open Sans"/>
              <a:ea typeface="Open Sans"/>
              <a:cs typeface="Open Sans"/>
              <a:sym typeface="Open Sans"/>
            </a:endParaRPr>
          </a:p>
        </p:txBody>
      </p:sp>
      <p:sp>
        <p:nvSpPr>
          <p:cNvPr id="39" name="TextBox 10"/>
          <p:cNvSpPr txBox="1"/>
          <p:nvPr/>
        </p:nvSpPr>
        <p:spPr>
          <a:xfrm>
            <a:off x="896114" y="4549097"/>
            <a:ext cx="11986844" cy="967894"/>
          </a:xfrm>
          <a:prstGeom prst="rect">
            <a:avLst/>
          </a:prstGeom>
        </p:spPr>
        <p:txBody>
          <a:bodyPr lIns="0" tIns="0" rIns="0" bIns="0" rtlCol="0" anchor="t">
            <a:spAutoFit/>
          </a:bodyPr>
          <a:lstStyle/>
          <a:p>
            <a:pPr lvl="0">
              <a:lnSpc>
                <a:spcPts val="3919"/>
              </a:lnSpc>
              <a:spcBef>
                <a:spcPct val="0"/>
              </a:spcBef>
            </a:pPr>
            <a:r>
              <a:rPr lang="vi-VN" sz="2799" smtClean="0">
                <a:solidFill>
                  <a:srgbClr val="000000"/>
                </a:solidFill>
                <a:latin typeface="Open Sans"/>
                <a:ea typeface="Open Sans"/>
                <a:cs typeface="Open Sans"/>
                <a:sym typeface="Open Sans"/>
              </a:rPr>
              <a:t>Bổ </a:t>
            </a:r>
            <a:r>
              <a:rPr lang="vi-VN" sz="2799">
                <a:solidFill>
                  <a:srgbClr val="000000"/>
                </a:solidFill>
                <a:latin typeface="Open Sans"/>
                <a:ea typeface="Open Sans"/>
                <a:cs typeface="Open Sans"/>
                <a:sym typeface="Open Sans"/>
              </a:rPr>
              <a:t>sung trang dashboard cho nhà tuyển dụng để có thể quản lý công việc và ứng viên dễ dàng hơn và hỗ trợ thống kê dữ liệu trực quan.</a:t>
            </a:r>
            <a:endParaRPr lang="en-US" sz="2799">
              <a:solidFill>
                <a:srgbClr val="000000"/>
              </a:solidFill>
              <a:latin typeface="Open Sans"/>
              <a:ea typeface="Open Sans"/>
              <a:cs typeface="Open Sans"/>
              <a:sym typeface="Open Sans"/>
            </a:endParaRPr>
          </a:p>
        </p:txBody>
      </p:sp>
      <p:sp>
        <p:nvSpPr>
          <p:cNvPr id="40" name="TextBox 10"/>
          <p:cNvSpPr txBox="1"/>
          <p:nvPr/>
        </p:nvSpPr>
        <p:spPr>
          <a:xfrm>
            <a:off x="896114" y="5846519"/>
            <a:ext cx="11986844" cy="1468031"/>
          </a:xfrm>
          <a:prstGeom prst="rect">
            <a:avLst/>
          </a:prstGeom>
        </p:spPr>
        <p:txBody>
          <a:bodyPr lIns="0" tIns="0" rIns="0" bIns="0" rtlCol="0" anchor="t">
            <a:spAutoFit/>
          </a:bodyPr>
          <a:lstStyle/>
          <a:p>
            <a:pPr lvl="0">
              <a:lnSpc>
                <a:spcPts val="3919"/>
              </a:lnSpc>
              <a:spcBef>
                <a:spcPct val="0"/>
              </a:spcBef>
            </a:pPr>
            <a:r>
              <a:rPr lang="en-US" sz="2799" smtClean="0">
                <a:solidFill>
                  <a:srgbClr val="000000"/>
                </a:solidFill>
                <a:latin typeface="Open Sans"/>
                <a:ea typeface="Open Sans"/>
                <a:cs typeface="Open Sans"/>
                <a:sym typeface="Open Sans"/>
              </a:rPr>
              <a:t>Tận dụng </a:t>
            </a:r>
            <a:r>
              <a:rPr lang="vi-VN" sz="2799" smtClean="0">
                <a:solidFill>
                  <a:srgbClr val="000000"/>
                </a:solidFill>
                <a:latin typeface="Open Sans"/>
                <a:ea typeface="Open Sans"/>
                <a:cs typeface="Open Sans"/>
                <a:sym typeface="Open Sans"/>
              </a:rPr>
              <a:t>trí </a:t>
            </a:r>
            <a:r>
              <a:rPr lang="vi-VN" sz="2799">
                <a:solidFill>
                  <a:srgbClr val="000000"/>
                </a:solidFill>
                <a:latin typeface="Open Sans"/>
                <a:ea typeface="Open Sans"/>
                <a:cs typeface="Open Sans"/>
                <a:sym typeface="Open Sans"/>
              </a:rPr>
              <a:t>tuệ nhân tạo để gợi ý công việc phù hợp với hồ sơ và hành vi của người tìm việc, đồng thời hỗ trợ nhà tuyển dụng trong việc sàng lọc và đánh giá ứng viên.</a:t>
            </a:r>
            <a:endParaRPr lang="en-US" sz="2799">
              <a:solidFill>
                <a:srgbClr val="000000"/>
              </a:solidFill>
              <a:latin typeface="Open Sans"/>
              <a:ea typeface="Open Sans"/>
              <a:cs typeface="Open Sans"/>
              <a:sym typeface="Open Sans"/>
            </a:endParaRPr>
          </a:p>
        </p:txBody>
      </p:sp>
    </p:spTree>
    <p:extLst>
      <p:ext uri="{BB962C8B-B14F-4D97-AF65-F5344CB8AC3E}">
        <p14:creationId xmlns:p14="http://schemas.microsoft.com/office/powerpoint/2010/main" val="600469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99280" y="9369641"/>
            <a:ext cx="405962"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28</a:t>
            </a:r>
            <a:endParaRPr lang="en-US" sz="2600" b="1" spc="72">
              <a:solidFill>
                <a:srgbClr val="6E309C"/>
              </a:solidFill>
              <a:latin typeface="Arimo Bold"/>
              <a:ea typeface="Arimo Bold"/>
              <a:cs typeface="Arimo Bold"/>
              <a:sym typeface="Arimo Bold"/>
            </a:endParaRPr>
          </a:p>
        </p:txBody>
      </p:sp>
      <p:sp>
        <p:nvSpPr>
          <p:cNvPr id="38" name="TextBox 2"/>
          <p:cNvSpPr txBox="1"/>
          <p:nvPr/>
        </p:nvSpPr>
        <p:spPr>
          <a:xfrm>
            <a:off x="3265544" y="4758779"/>
            <a:ext cx="11326756" cy="769441"/>
          </a:xfrm>
          <a:prstGeom prst="rect">
            <a:avLst/>
          </a:prstGeom>
        </p:spPr>
        <p:txBody>
          <a:bodyPr wrap="square" lIns="0" tIns="0" rIns="0" bIns="0" rtlCol="0" anchor="t">
            <a:spAutoFit/>
          </a:bodyPr>
          <a:lstStyle/>
          <a:p>
            <a:pPr marL="0" lvl="0" indent="0" algn="ctr">
              <a:lnSpc>
                <a:spcPts val="6000"/>
              </a:lnSpc>
              <a:spcBef>
                <a:spcPct val="0"/>
              </a:spcBef>
            </a:pPr>
            <a:r>
              <a:rPr lang="en-US" sz="5000" b="1" spc="138">
                <a:solidFill>
                  <a:srgbClr val="6E309C">
                    <a:alpha val="81961"/>
                  </a:srgbClr>
                </a:solidFill>
                <a:latin typeface="Open Sans Bold"/>
                <a:ea typeface="Open Sans Bold"/>
                <a:cs typeface="Open Sans Bold"/>
                <a:sym typeface="Open Sans Bold"/>
              </a:rPr>
              <a:t>6</a:t>
            </a:r>
            <a:r>
              <a:rPr lang="en-US" sz="5000" b="1" spc="138" smtClean="0">
                <a:solidFill>
                  <a:srgbClr val="6E309C">
                    <a:alpha val="81961"/>
                  </a:srgbClr>
                </a:solidFill>
                <a:latin typeface="Open Sans Bold"/>
                <a:ea typeface="Open Sans Bold"/>
                <a:cs typeface="Open Sans Bold"/>
                <a:sym typeface="Open Sans Bold"/>
              </a:rPr>
              <a:t>. DEMO</a:t>
            </a:r>
            <a:endParaRPr lang="en-US" sz="5000" b="1" spc="138">
              <a:solidFill>
                <a:srgbClr val="6E309C">
                  <a:alpha val="81961"/>
                </a:srgbClr>
              </a:solidFill>
              <a:latin typeface="Open Sans Bold"/>
              <a:ea typeface="Open Sans Bold"/>
              <a:cs typeface="Open Sans Bold"/>
              <a:sym typeface="Open Sans Bold"/>
            </a:endParaRPr>
          </a:p>
        </p:txBody>
      </p:sp>
      <p:sp>
        <p:nvSpPr>
          <p:cNvPr id="39" name="AutoShape 4"/>
          <p:cNvSpPr/>
          <p:nvPr/>
        </p:nvSpPr>
        <p:spPr>
          <a:xfrm>
            <a:off x="1028706" y="1023938"/>
            <a:ext cx="14662846" cy="4762"/>
          </a:xfrm>
          <a:prstGeom prst="line">
            <a:avLst/>
          </a:prstGeom>
          <a:ln w="19050" cap="rnd">
            <a:solidFill>
              <a:srgbClr val="6E309C"/>
            </a:solidFill>
            <a:prstDash val="solid"/>
            <a:headEnd type="none" w="sm" len="sm"/>
            <a:tailEnd type="none" w="sm" len="sm"/>
          </a:ln>
        </p:spPr>
      </p:sp>
      <p:pic>
        <p:nvPicPr>
          <p:cNvPr id="43" name="Picture 42" descr="tvu"/>
          <p:cNvPicPr>
            <a:picLocks noChangeAspect="1"/>
          </p:cNvPicPr>
          <p:nvPr/>
        </p:nvPicPr>
        <p:blipFill>
          <a:blip r:embed="rId2"/>
          <a:srcRect l="20639" t="20611" r="20250" b="20046"/>
          <a:stretch>
            <a:fillRect/>
          </a:stretch>
        </p:blipFill>
        <p:spPr>
          <a:xfrm>
            <a:off x="16695420" y="706268"/>
            <a:ext cx="804049" cy="793784"/>
          </a:xfrm>
          <a:prstGeom prst="rect">
            <a:avLst/>
          </a:prstGeom>
        </p:spPr>
      </p:pic>
    </p:spTree>
    <p:extLst>
      <p:ext uri="{BB962C8B-B14F-4D97-AF65-F5344CB8AC3E}">
        <p14:creationId xmlns:p14="http://schemas.microsoft.com/office/powerpoint/2010/main" val="2824763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706170" y="9258300"/>
            <a:ext cx="16872253" cy="0"/>
          </a:xfrm>
          <a:prstGeom prst="line">
            <a:avLst/>
          </a:prstGeom>
          <a:ln w="19050" cap="rnd">
            <a:solidFill>
              <a:srgbClr val="6E309C"/>
            </a:solidFill>
            <a:prstDash val="solid"/>
            <a:headEnd type="none" w="sm" len="sm"/>
            <a:tailEnd type="none" w="sm" len="sm"/>
          </a:ln>
        </p:spPr>
      </p:sp>
      <p:sp>
        <p:nvSpPr>
          <p:cNvPr id="6" name="TextBox 17"/>
          <p:cNvSpPr txBox="1"/>
          <p:nvPr/>
        </p:nvSpPr>
        <p:spPr>
          <a:xfrm>
            <a:off x="763320" y="9369641"/>
            <a:ext cx="12119638" cy="409575"/>
          </a:xfrm>
          <a:prstGeom prst="rect">
            <a:avLst/>
          </a:prstGeom>
        </p:spPr>
        <p:txBody>
          <a:bodyPr lIns="0" tIns="0" rIns="0" bIns="0" rtlCol="0" anchor="t">
            <a:spAutoFit/>
          </a:bodyPr>
          <a:lstStyle/>
          <a:p>
            <a:pPr marL="0" lvl="0" indent="0" algn="l">
              <a:lnSpc>
                <a:spcPts val="3120"/>
              </a:lnSpc>
              <a:spcBef>
                <a:spcPct val="0"/>
              </a:spcBef>
            </a:pPr>
            <a:r>
              <a:rPr lang="en-US" sz="2600" b="1" u="none" strike="noStrike" spc="72" smtClean="0">
                <a:solidFill>
                  <a:srgbClr val="6E309C"/>
                </a:solidFill>
                <a:latin typeface="Arimo Bold"/>
                <a:ea typeface="Arimo Bold"/>
                <a:cs typeface="Arimo Bold"/>
                <a:sym typeface="Arimo Bold"/>
              </a:rPr>
              <a:t>XÂY DỰNG WEBSITE TÌM KIẾM VÀ ỨNG TUYỂN VIỆC LÀM</a:t>
            </a:r>
            <a:endParaRPr lang="en-US" sz="2600" b="1" u="none" strike="noStrike" spc="72">
              <a:solidFill>
                <a:srgbClr val="6E309C"/>
              </a:solidFill>
              <a:latin typeface="Arimo Bold"/>
              <a:ea typeface="Arimo Bold"/>
              <a:cs typeface="Arimo Bold"/>
              <a:sym typeface="Arimo Bold"/>
            </a:endParaRPr>
          </a:p>
        </p:txBody>
      </p:sp>
      <p:sp>
        <p:nvSpPr>
          <p:cNvPr id="7" name="TextBox 18"/>
          <p:cNvSpPr txBox="1"/>
          <p:nvPr/>
        </p:nvSpPr>
        <p:spPr>
          <a:xfrm>
            <a:off x="17060091" y="9369641"/>
            <a:ext cx="445151" cy="397545"/>
          </a:xfrm>
          <a:prstGeom prst="rect">
            <a:avLst/>
          </a:prstGeom>
        </p:spPr>
        <p:txBody>
          <a:bodyPr wrap="square" lIns="0" tIns="0" rIns="0" bIns="0" rtlCol="0" anchor="t">
            <a:spAutoFit/>
          </a:bodyPr>
          <a:lstStyle/>
          <a:p>
            <a:pPr marL="0" lvl="0" indent="0" algn="l">
              <a:lnSpc>
                <a:spcPts val="3120"/>
              </a:lnSpc>
              <a:spcBef>
                <a:spcPct val="0"/>
              </a:spcBef>
            </a:pPr>
            <a:r>
              <a:rPr lang="en-US" sz="2600" b="1" spc="72" smtClean="0">
                <a:solidFill>
                  <a:srgbClr val="6E309C"/>
                </a:solidFill>
                <a:latin typeface="Arimo Bold"/>
                <a:ea typeface="Arimo Bold"/>
                <a:cs typeface="Arimo Bold"/>
                <a:sym typeface="Arimo Bold"/>
              </a:rPr>
              <a:t>29</a:t>
            </a:r>
            <a:endParaRPr lang="en-US" sz="2600" b="1" spc="72">
              <a:solidFill>
                <a:srgbClr val="6E309C"/>
              </a:solidFill>
              <a:latin typeface="Arimo Bold"/>
              <a:ea typeface="Arimo Bold"/>
              <a:cs typeface="Arimo Bold"/>
              <a:sym typeface="Arimo Bold"/>
            </a:endParaRPr>
          </a:p>
        </p:txBody>
      </p:sp>
      <p:sp>
        <p:nvSpPr>
          <p:cNvPr id="39" name="AutoShape 4"/>
          <p:cNvSpPr/>
          <p:nvPr/>
        </p:nvSpPr>
        <p:spPr>
          <a:xfrm>
            <a:off x="1028706" y="1023938"/>
            <a:ext cx="14662846" cy="4762"/>
          </a:xfrm>
          <a:prstGeom prst="line">
            <a:avLst/>
          </a:prstGeom>
          <a:ln w="19050" cap="rnd">
            <a:solidFill>
              <a:srgbClr val="6E309C"/>
            </a:solidFill>
            <a:prstDash val="solid"/>
            <a:headEnd type="none" w="sm" len="sm"/>
            <a:tailEnd type="none" w="sm" len="sm"/>
          </a:ln>
        </p:spPr>
      </p:sp>
      <p:pic>
        <p:nvPicPr>
          <p:cNvPr id="43" name="Picture 42" descr="tvu"/>
          <p:cNvPicPr>
            <a:picLocks noChangeAspect="1"/>
          </p:cNvPicPr>
          <p:nvPr/>
        </p:nvPicPr>
        <p:blipFill>
          <a:blip r:embed="rId2"/>
          <a:srcRect l="20639" t="20611" r="20250" b="20046"/>
          <a:stretch>
            <a:fillRect/>
          </a:stretch>
        </p:blipFill>
        <p:spPr>
          <a:xfrm>
            <a:off x="16695420" y="706268"/>
            <a:ext cx="804049" cy="793784"/>
          </a:xfrm>
          <a:prstGeom prst="rect">
            <a:avLst/>
          </a:prstGeom>
        </p:spPr>
      </p:pic>
      <p:sp>
        <p:nvSpPr>
          <p:cNvPr id="8" name="Freeform 3"/>
          <p:cNvSpPr/>
          <p:nvPr/>
        </p:nvSpPr>
        <p:spPr>
          <a:xfrm>
            <a:off x="2158888" y="2382671"/>
            <a:ext cx="3602176" cy="5661574"/>
          </a:xfrm>
          <a:custGeom>
            <a:avLst/>
            <a:gdLst/>
            <a:ahLst/>
            <a:cxnLst/>
            <a:rect l="l" t="t" r="r" b="b"/>
            <a:pathLst>
              <a:path w="3602176" h="5661574">
                <a:moveTo>
                  <a:pt x="0" y="0"/>
                </a:moveTo>
                <a:lnTo>
                  <a:pt x="3602176" y="0"/>
                </a:lnTo>
                <a:lnTo>
                  <a:pt x="3602176" y="5661574"/>
                </a:lnTo>
                <a:lnTo>
                  <a:pt x="0" y="5661574"/>
                </a:lnTo>
                <a:lnTo>
                  <a:pt x="0" y="0"/>
                </a:lnTo>
                <a:close/>
              </a:path>
            </a:pathLst>
          </a:custGeom>
          <a:blipFill>
            <a:blip r:embed="rId3"/>
            <a:stretch>
              <a:fillRect/>
            </a:stretch>
          </a:blipFill>
        </p:spPr>
      </p:sp>
      <p:sp>
        <p:nvSpPr>
          <p:cNvPr id="9" name="TextBox 4"/>
          <p:cNvSpPr txBox="1"/>
          <p:nvPr/>
        </p:nvSpPr>
        <p:spPr>
          <a:xfrm>
            <a:off x="6296255" y="4246886"/>
            <a:ext cx="9673122" cy="1821011"/>
          </a:xfrm>
          <a:prstGeom prst="rect">
            <a:avLst/>
          </a:prstGeom>
        </p:spPr>
        <p:txBody>
          <a:bodyPr lIns="0" tIns="0" rIns="0" bIns="0" rtlCol="0" anchor="t">
            <a:spAutoFit/>
          </a:bodyPr>
          <a:lstStyle/>
          <a:p>
            <a:pPr marL="0" lvl="0" indent="0" algn="ctr">
              <a:lnSpc>
                <a:spcPts val="7102"/>
              </a:lnSpc>
            </a:pPr>
            <a:r>
              <a:rPr lang="en-US" sz="6122" b="1">
                <a:solidFill>
                  <a:srgbClr val="6E309C"/>
                </a:solidFill>
                <a:latin typeface="Open Sans Bold"/>
                <a:ea typeface="Open Sans Bold"/>
                <a:cs typeface="Open Sans Bold"/>
                <a:sym typeface="Open Sans Bold"/>
              </a:rPr>
              <a:t>CẢM ƠN THẦY CÔ VÀ CÁC BẠN ĐÃ THEO DÕI</a:t>
            </a:r>
          </a:p>
        </p:txBody>
      </p:sp>
    </p:spTree>
    <p:extLst>
      <p:ext uri="{BB962C8B-B14F-4D97-AF65-F5344CB8AC3E}">
        <p14:creationId xmlns:p14="http://schemas.microsoft.com/office/powerpoint/2010/main" val="5313403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134</TotalTime>
  <Words>1687</Words>
  <Application>Microsoft Office PowerPoint</Application>
  <PresentationFormat>Custom</PresentationFormat>
  <Paragraphs>203</Paragraphs>
  <Slides>30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Arial</vt:lpstr>
      <vt:lpstr>Arimo Bold</vt:lpstr>
      <vt:lpstr>Arimo Italics</vt:lpstr>
      <vt:lpstr>Calibri</vt:lpstr>
      <vt:lpstr>Calibri Light</vt:lpstr>
      <vt:lpstr>Inter</vt:lpstr>
      <vt:lpstr>Inter Bold</vt:lpstr>
      <vt:lpstr>Inter Bold Italics</vt:lpstr>
      <vt:lpstr>Inter Italics</vt:lpstr>
      <vt:lpstr>Open Sans</vt:lpstr>
      <vt:lpstr>Open Sans Bold</vt:lpstr>
      <vt:lpstr>Open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dc:creator>
  <cp:lastModifiedBy>Nguyen</cp:lastModifiedBy>
  <cp:revision>17</cp:revision>
  <dcterms:created xsi:type="dcterms:W3CDTF">2025-11-14T08:01:17Z</dcterms:created>
  <dcterms:modified xsi:type="dcterms:W3CDTF">2025-12-28T12:16:27Z</dcterms:modified>
</cp:coreProperties>
</file>